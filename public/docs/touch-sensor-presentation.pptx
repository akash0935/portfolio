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6" r:id="rId3"/>
    <p:sldId id="269" r:id="rId4"/>
    <p:sldId id="270" r:id="rId5"/>
    <p:sldId id="271" r:id="rId6"/>
    <p:sldId id="272" r:id="rId7"/>
    <p:sldId id="277" r:id="rId8"/>
    <p:sldId id="276" r:id="rId9"/>
    <p:sldId id="281" r:id="rId10"/>
    <p:sldId id="282" r:id="rId11"/>
    <p:sldId id="275" r:id="rId12"/>
    <p:sldId id="280" r:id="rId13"/>
    <p:sldId id="279" r:id="rId14"/>
    <p:sldId id="27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53" autoAdjust="0"/>
    <p:restoredTop sz="94660"/>
  </p:normalViewPr>
  <p:slideViewPr>
    <p:cSldViewPr snapToGrid="0">
      <p:cViewPr varScale="1">
        <p:scale>
          <a:sx n="74" d="100"/>
          <a:sy n="74" d="100"/>
        </p:scale>
        <p:origin x="58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9E5FEB4-C0C8-486B-BF32-31081F5F915B}" type="datetimeFigureOut">
              <a:rPr lang="en-US" smtClean="0"/>
              <a:t>24/12/2024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24E7AA-06CA-4E7C-83E5-413425F8D525}" type="slidenum">
              <a:rPr lang="en-US" smtClean="0"/>
              <a:t>‹#›</a:t>
            </a:fld>
            <a:endParaRPr lang="en-US"/>
          </a:p>
        </p:txBody>
      </p:sp>
    </p:spTree>
    <p:extLst>
      <p:ext uri="{BB962C8B-B14F-4D97-AF65-F5344CB8AC3E}">
        <p14:creationId xmlns:p14="http://schemas.microsoft.com/office/powerpoint/2010/main" val="3074889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E5FEB4-C0C8-486B-BF32-31081F5F915B}" type="datetimeFigureOut">
              <a:rPr lang="en-US" smtClean="0"/>
              <a:t>24/12/2024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24E7AA-06CA-4E7C-83E5-413425F8D525}" type="slidenum">
              <a:rPr lang="en-US" smtClean="0"/>
              <a:t>‹#›</a:t>
            </a:fld>
            <a:endParaRPr lang="en-US"/>
          </a:p>
        </p:txBody>
      </p:sp>
    </p:spTree>
    <p:extLst>
      <p:ext uri="{BB962C8B-B14F-4D97-AF65-F5344CB8AC3E}">
        <p14:creationId xmlns:p14="http://schemas.microsoft.com/office/powerpoint/2010/main" val="24191286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9E5FEB4-C0C8-486B-BF32-31081F5F915B}" type="datetimeFigureOut">
              <a:rPr lang="en-US" smtClean="0"/>
              <a:t>24/12/2024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24E7AA-06CA-4E7C-83E5-413425F8D525}" type="slidenum">
              <a:rPr lang="en-US" smtClean="0"/>
              <a:t>‹#›</a:t>
            </a:fld>
            <a:endParaRPr lang="en-US"/>
          </a:p>
        </p:txBody>
      </p:sp>
    </p:spTree>
    <p:extLst>
      <p:ext uri="{BB962C8B-B14F-4D97-AF65-F5344CB8AC3E}">
        <p14:creationId xmlns:p14="http://schemas.microsoft.com/office/powerpoint/2010/main" val="25483894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E5FEB4-C0C8-486B-BF32-31081F5F915B}" type="datetimeFigureOut">
              <a:rPr lang="en-US" smtClean="0"/>
              <a:t>24/12/2024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24E7AA-06CA-4E7C-83E5-413425F8D525}" type="slidenum">
              <a:rPr lang="en-US" smtClean="0"/>
              <a:t>‹#›</a:t>
            </a:fld>
            <a:endParaRPr lang="en-US"/>
          </a:p>
        </p:txBody>
      </p:sp>
    </p:spTree>
    <p:extLst>
      <p:ext uri="{BB962C8B-B14F-4D97-AF65-F5344CB8AC3E}">
        <p14:creationId xmlns:p14="http://schemas.microsoft.com/office/powerpoint/2010/main" val="17423214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9E5FEB4-C0C8-486B-BF32-31081F5F915B}" type="datetimeFigureOut">
              <a:rPr lang="en-US" smtClean="0"/>
              <a:t>24/12/2024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24E7AA-06CA-4E7C-83E5-413425F8D525}" type="slidenum">
              <a:rPr lang="en-US" smtClean="0"/>
              <a:t>‹#›</a:t>
            </a:fld>
            <a:endParaRPr lang="en-US"/>
          </a:p>
        </p:txBody>
      </p:sp>
    </p:spTree>
    <p:extLst>
      <p:ext uri="{BB962C8B-B14F-4D97-AF65-F5344CB8AC3E}">
        <p14:creationId xmlns:p14="http://schemas.microsoft.com/office/powerpoint/2010/main" val="12737137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9E5FEB4-C0C8-486B-BF32-31081F5F915B}" type="datetimeFigureOut">
              <a:rPr lang="en-US" smtClean="0"/>
              <a:t>24/12/2024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24E7AA-06CA-4E7C-83E5-413425F8D525}" type="slidenum">
              <a:rPr lang="en-US" smtClean="0"/>
              <a:t>‹#›</a:t>
            </a:fld>
            <a:endParaRPr lang="en-US"/>
          </a:p>
        </p:txBody>
      </p:sp>
    </p:spTree>
    <p:extLst>
      <p:ext uri="{BB962C8B-B14F-4D97-AF65-F5344CB8AC3E}">
        <p14:creationId xmlns:p14="http://schemas.microsoft.com/office/powerpoint/2010/main" val="20523711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E5FEB4-C0C8-486B-BF32-31081F5F915B}" type="datetimeFigureOut">
              <a:rPr lang="en-US" smtClean="0"/>
              <a:t>24/12/2024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24E7AA-06CA-4E7C-83E5-413425F8D525}" type="slidenum">
              <a:rPr lang="en-US" smtClean="0"/>
              <a:t>‹#›</a:t>
            </a:fld>
            <a:endParaRPr lang="en-US"/>
          </a:p>
        </p:txBody>
      </p:sp>
    </p:spTree>
    <p:extLst>
      <p:ext uri="{BB962C8B-B14F-4D97-AF65-F5344CB8AC3E}">
        <p14:creationId xmlns:p14="http://schemas.microsoft.com/office/powerpoint/2010/main" val="19765165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E5FEB4-C0C8-486B-BF32-31081F5F915B}" type="datetimeFigureOut">
              <a:rPr lang="en-US" smtClean="0"/>
              <a:t>24/12/2024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24E7AA-06CA-4E7C-83E5-413425F8D525}" type="slidenum">
              <a:rPr lang="en-US" smtClean="0"/>
              <a:t>‹#›</a:t>
            </a:fld>
            <a:endParaRPr lang="en-US"/>
          </a:p>
        </p:txBody>
      </p:sp>
    </p:spTree>
    <p:extLst>
      <p:ext uri="{BB962C8B-B14F-4D97-AF65-F5344CB8AC3E}">
        <p14:creationId xmlns:p14="http://schemas.microsoft.com/office/powerpoint/2010/main" val="21685322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E5FEB4-C0C8-486B-BF32-31081F5F915B}" type="datetimeFigureOut">
              <a:rPr lang="en-US" smtClean="0"/>
              <a:t>24/12/2024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24E7AA-06CA-4E7C-83E5-413425F8D525}" type="slidenum">
              <a:rPr lang="en-US" smtClean="0"/>
              <a:t>‹#›</a:t>
            </a:fld>
            <a:endParaRPr lang="en-US"/>
          </a:p>
        </p:txBody>
      </p:sp>
    </p:spTree>
    <p:extLst>
      <p:ext uri="{BB962C8B-B14F-4D97-AF65-F5344CB8AC3E}">
        <p14:creationId xmlns:p14="http://schemas.microsoft.com/office/powerpoint/2010/main" val="2186226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E5FEB4-C0C8-486B-BF32-31081F5F915B}" type="datetimeFigureOut">
              <a:rPr lang="en-US" smtClean="0"/>
              <a:t>24/12/2024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24E7AA-06CA-4E7C-83E5-413425F8D525}" type="slidenum">
              <a:rPr lang="en-US" smtClean="0"/>
              <a:t>‹#›</a:t>
            </a:fld>
            <a:endParaRPr lang="en-US"/>
          </a:p>
        </p:txBody>
      </p:sp>
    </p:spTree>
    <p:extLst>
      <p:ext uri="{BB962C8B-B14F-4D97-AF65-F5344CB8AC3E}">
        <p14:creationId xmlns:p14="http://schemas.microsoft.com/office/powerpoint/2010/main" val="10230152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E5FEB4-C0C8-486B-BF32-31081F5F915B}" type="datetimeFigureOut">
              <a:rPr lang="en-US" smtClean="0"/>
              <a:t>24/12/2024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24E7AA-06CA-4E7C-83E5-413425F8D525}" type="slidenum">
              <a:rPr lang="en-US" smtClean="0"/>
              <a:t>‹#›</a:t>
            </a:fld>
            <a:endParaRPr lang="en-US"/>
          </a:p>
        </p:txBody>
      </p:sp>
    </p:spTree>
    <p:extLst>
      <p:ext uri="{BB962C8B-B14F-4D97-AF65-F5344CB8AC3E}">
        <p14:creationId xmlns:p14="http://schemas.microsoft.com/office/powerpoint/2010/main" val="24420230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E5FEB4-C0C8-486B-BF32-31081F5F915B}" type="datetimeFigureOut">
              <a:rPr lang="en-US" smtClean="0"/>
              <a:t>24/12/2024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24E7AA-06CA-4E7C-83E5-413425F8D525}" type="slidenum">
              <a:rPr lang="en-US" smtClean="0"/>
              <a:t>‹#›</a:t>
            </a:fld>
            <a:endParaRPr lang="en-US"/>
          </a:p>
        </p:txBody>
      </p:sp>
    </p:spTree>
    <p:extLst>
      <p:ext uri="{BB962C8B-B14F-4D97-AF65-F5344CB8AC3E}">
        <p14:creationId xmlns:p14="http://schemas.microsoft.com/office/powerpoint/2010/main" val="818786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48340" y="-2648340"/>
            <a:ext cx="6895320" cy="12192000"/>
          </a:xfrm>
          <a:prstGeom prst="rect">
            <a:avLst/>
          </a:prstGeom>
        </p:spPr>
      </p:pic>
      <p:sp>
        <p:nvSpPr>
          <p:cNvPr id="5" name="TextBox 4"/>
          <p:cNvSpPr txBox="1"/>
          <p:nvPr/>
        </p:nvSpPr>
        <p:spPr>
          <a:xfrm>
            <a:off x="1" y="0"/>
            <a:ext cx="11439331" cy="954107"/>
          </a:xfrm>
          <a:prstGeom prst="rect">
            <a:avLst/>
          </a:prstGeom>
          <a:noFill/>
        </p:spPr>
        <p:txBody>
          <a:bodyPr wrap="square" rtlCol="0">
            <a:spAutoFit/>
          </a:bodyPr>
          <a:lstStyle/>
          <a:p>
            <a:pPr lvl="1" algn="ctr"/>
            <a:r>
              <a:rPr lang="en-US" sz="2800" b="1" dirty="0" smtClean="0">
                <a:solidFill>
                  <a:schemeClr val="bg1"/>
                </a:solidFill>
                <a:effectLst>
                  <a:outerShdw blurRad="38100" dist="38100" dir="2700000" algn="tl">
                    <a:srgbClr val="000000">
                      <a:alpha val="43137"/>
                    </a:srgbClr>
                  </a:outerShdw>
                </a:effectLst>
                <a:latin typeface="Arial Rounded MT Bold" panose="020F0704030504030204" pitchFamily="34" charset="0"/>
              </a:rPr>
              <a:t>JODHPUR INSTITUTE OF ENGINEERING AND TECHNLOGY</a:t>
            </a:r>
          </a:p>
          <a:p>
            <a:pPr lvl="1" algn="ctr"/>
            <a:endParaRPr lang="en-US" sz="2800" b="1" dirty="0">
              <a:effectLst>
                <a:outerShdw blurRad="38100" dist="38100" dir="2700000" algn="tl">
                  <a:srgbClr val="000000">
                    <a:alpha val="43137"/>
                  </a:srgbClr>
                </a:outerShdw>
              </a:effectLst>
              <a:latin typeface="Arial Rounded MT Bold" panose="020F0704030504030204" pitchFamily="34" charset="0"/>
            </a:endParaRPr>
          </a:p>
        </p:txBody>
      </p:sp>
      <p:pic>
        <p:nvPicPr>
          <p:cNvPr id="6"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5414" y="967424"/>
            <a:ext cx="1614712" cy="1248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4782190" y="2711077"/>
            <a:ext cx="2121159" cy="646331"/>
          </a:xfrm>
          <a:prstGeom prst="rect">
            <a:avLst/>
          </a:prstGeom>
        </p:spPr>
        <p:txBody>
          <a:bodyPr wrap="square">
            <a:spAutoFit/>
          </a:bodyPr>
          <a:lstStyle/>
          <a:p>
            <a:r>
              <a:rPr lang="en-US" dirty="0" smtClean="0">
                <a:solidFill>
                  <a:schemeClr val="bg1"/>
                </a:solidFill>
              </a:rPr>
              <a:t> SESSION 2024-2025 </a:t>
            </a:r>
          </a:p>
          <a:p>
            <a:r>
              <a:rPr lang="en-US" dirty="0" smtClean="0">
                <a:solidFill>
                  <a:schemeClr val="bg1"/>
                </a:solidFill>
              </a:rPr>
              <a:t>(I YEAR-</a:t>
            </a:r>
            <a:r>
              <a:rPr lang="en-US" dirty="0">
                <a:solidFill>
                  <a:schemeClr val="bg1"/>
                </a:solidFill>
              </a:rPr>
              <a:t>I</a:t>
            </a:r>
            <a:r>
              <a:rPr lang="en-US" dirty="0" smtClean="0">
                <a:solidFill>
                  <a:schemeClr val="bg1"/>
                </a:solidFill>
              </a:rPr>
              <a:t> SEMESTER)</a:t>
            </a:r>
            <a:endParaRPr lang="en-US" dirty="0"/>
          </a:p>
        </p:txBody>
      </p:sp>
      <p:sp>
        <p:nvSpPr>
          <p:cNvPr id="8" name="Rectangle 7"/>
          <p:cNvSpPr/>
          <p:nvPr/>
        </p:nvSpPr>
        <p:spPr>
          <a:xfrm>
            <a:off x="1909666" y="3525783"/>
            <a:ext cx="7620000" cy="523220"/>
          </a:xfrm>
          <a:prstGeom prst="rect">
            <a:avLst/>
          </a:prstGeom>
        </p:spPr>
        <p:txBody>
          <a:bodyPr wrap="square">
            <a:spAutoFit/>
          </a:bodyPr>
          <a:lstStyle/>
          <a:p>
            <a:pPr algn="ctr"/>
            <a:r>
              <a:rPr lang="en-US" sz="2800" dirty="0" smtClean="0">
                <a:solidFill>
                  <a:srgbClr val="FFFF00"/>
                </a:solidFill>
                <a:latin typeface="Arial Black" panose="020B0A04020102020204" pitchFamily="34" charset="0"/>
              </a:rPr>
              <a:t>      TOUCH SENSOR WITH LED</a:t>
            </a:r>
            <a:endParaRPr lang="en-US" sz="2800" dirty="0">
              <a:solidFill>
                <a:srgbClr val="FFFF00"/>
              </a:solidFill>
              <a:latin typeface="Arial Black" panose="020B0A04020102020204" pitchFamily="34" charset="0"/>
            </a:endParaRPr>
          </a:p>
        </p:txBody>
      </p:sp>
      <p:sp>
        <p:nvSpPr>
          <p:cNvPr id="9" name="Rectangle 8"/>
          <p:cNvSpPr/>
          <p:nvPr/>
        </p:nvSpPr>
        <p:spPr>
          <a:xfrm>
            <a:off x="2433203" y="489845"/>
            <a:ext cx="7707343" cy="400110"/>
          </a:xfrm>
          <a:prstGeom prst="rect">
            <a:avLst/>
          </a:prstGeom>
        </p:spPr>
        <p:txBody>
          <a:bodyPr wrap="square">
            <a:spAutoFit/>
          </a:bodyPr>
          <a:lstStyle/>
          <a:p>
            <a:pPr algn="ctr"/>
            <a:r>
              <a:rPr lang="en-US" sz="2000" b="1" i="1" dirty="0" smtClean="0">
                <a:solidFill>
                  <a:schemeClr val="bg1"/>
                </a:solidFill>
              </a:rPr>
              <a:t>DEPARTMENT OF ELECTRONICS AND COMMUNICATION ENGINEERING</a:t>
            </a:r>
            <a:endParaRPr lang="en-US" sz="2000" b="1" dirty="0"/>
          </a:p>
        </p:txBody>
      </p:sp>
      <p:sp>
        <p:nvSpPr>
          <p:cNvPr id="11" name="Rectangle 10"/>
          <p:cNvSpPr/>
          <p:nvPr/>
        </p:nvSpPr>
        <p:spPr>
          <a:xfrm>
            <a:off x="0" y="4804529"/>
            <a:ext cx="2347437" cy="400110"/>
          </a:xfrm>
          <a:prstGeom prst="rect">
            <a:avLst/>
          </a:prstGeom>
        </p:spPr>
        <p:txBody>
          <a:bodyPr wrap="none">
            <a:spAutoFit/>
          </a:bodyPr>
          <a:lstStyle/>
          <a:p>
            <a:r>
              <a:rPr lang="en-US" dirty="0" smtClean="0">
                <a:solidFill>
                  <a:schemeClr val="bg1"/>
                </a:solidFill>
              </a:rPr>
              <a:t> </a:t>
            </a:r>
            <a:r>
              <a:rPr lang="en-US" sz="2000" u="sng" dirty="0" smtClean="0">
                <a:solidFill>
                  <a:schemeClr val="bg1"/>
                </a:solidFill>
              </a:rPr>
              <a:t>SUBMITTED UNDER</a:t>
            </a:r>
            <a:r>
              <a:rPr lang="en-US" sz="2000" dirty="0" smtClean="0">
                <a:solidFill>
                  <a:schemeClr val="bg1"/>
                </a:solidFill>
              </a:rPr>
              <a:t> </a:t>
            </a:r>
            <a:endParaRPr lang="en-US" dirty="0"/>
          </a:p>
        </p:txBody>
      </p:sp>
      <p:sp>
        <p:nvSpPr>
          <p:cNvPr id="12" name="Rectangle 11"/>
          <p:cNvSpPr/>
          <p:nvPr/>
        </p:nvSpPr>
        <p:spPr>
          <a:xfrm>
            <a:off x="-90547" y="5165209"/>
            <a:ext cx="3526799" cy="400110"/>
          </a:xfrm>
          <a:prstGeom prst="rect">
            <a:avLst/>
          </a:prstGeom>
        </p:spPr>
        <p:txBody>
          <a:bodyPr wrap="none">
            <a:spAutoFit/>
          </a:bodyPr>
          <a:lstStyle/>
          <a:p>
            <a:r>
              <a:rPr lang="en-US" sz="2000" dirty="0" smtClean="0">
                <a:solidFill>
                  <a:schemeClr val="bg1"/>
                </a:solidFill>
              </a:rPr>
              <a:t> </a:t>
            </a:r>
            <a:r>
              <a:rPr lang="en-US" sz="2000" u="sng" dirty="0" smtClean="0">
                <a:solidFill>
                  <a:schemeClr val="bg1"/>
                </a:solidFill>
              </a:rPr>
              <a:t>THE TEAM COLLABORATION BY </a:t>
            </a:r>
            <a:endParaRPr lang="en-US" sz="2000" dirty="0"/>
          </a:p>
        </p:txBody>
      </p:sp>
      <p:sp>
        <p:nvSpPr>
          <p:cNvPr id="13" name="Rectangle 12"/>
          <p:cNvSpPr/>
          <p:nvPr/>
        </p:nvSpPr>
        <p:spPr>
          <a:xfrm>
            <a:off x="-109208" y="5522176"/>
            <a:ext cx="2290179" cy="400110"/>
          </a:xfrm>
          <a:prstGeom prst="rect">
            <a:avLst/>
          </a:prstGeom>
        </p:spPr>
        <p:txBody>
          <a:bodyPr wrap="none">
            <a:spAutoFit/>
          </a:bodyPr>
          <a:lstStyle/>
          <a:p>
            <a:r>
              <a:rPr lang="en-US" sz="2000" dirty="0" smtClean="0">
                <a:solidFill>
                  <a:schemeClr val="bg1"/>
                </a:solidFill>
              </a:rPr>
              <a:t> </a:t>
            </a:r>
            <a:r>
              <a:rPr lang="en-US" sz="2000" b="1" dirty="0" smtClean="0">
                <a:solidFill>
                  <a:schemeClr val="bg1"/>
                </a:solidFill>
              </a:rPr>
              <a:t>•AKASH  RATHORE </a:t>
            </a:r>
            <a:endParaRPr lang="en-US" sz="2000" b="1" dirty="0"/>
          </a:p>
        </p:txBody>
      </p:sp>
      <p:sp>
        <p:nvSpPr>
          <p:cNvPr id="14" name="Rectangle 13"/>
          <p:cNvSpPr/>
          <p:nvPr/>
        </p:nvSpPr>
        <p:spPr>
          <a:xfrm>
            <a:off x="-90547" y="5946990"/>
            <a:ext cx="2452403" cy="400110"/>
          </a:xfrm>
          <a:prstGeom prst="rect">
            <a:avLst/>
          </a:prstGeom>
        </p:spPr>
        <p:txBody>
          <a:bodyPr wrap="none">
            <a:spAutoFit/>
          </a:bodyPr>
          <a:lstStyle/>
          <a:p>
            <a:r>
              <a:rPr lang="en-US" sz="2000" dirty="0" smtClean="0">
                <a:solidFill>
                  <a:schemeClr val="bg1"/>
                </a:solidFill>
              </a:rPr>
              <a:t> </a:t>
            </a:r>
            <a:r>
              <a:rPr lang="en-US" sz="2000" b="1" dirty="0" smtClean="0">
                <a:solidFill>
                  <a:schemeClr val="bg1"/>
                </a:solidFill>
              </a:rPr>
              <a:t>•DARSHAN SHARMA</a:t>
            </a:r>
            <a:endParaRPr lang="en-US" sz="2000" b="1" dirty="0"/>
          </a:p>
        </p:txBody>
      </p:sp>
      <p:sp>
        <p:nvSpPr>
          <p:cNvPr id="15" name="Rectangle 14"/>
          <p:cNvSpPr/>
          <p:nvPr/>
        </p:nvSpPr>
        <p:spPr>
          <a:xfrm>
            <a:off x="8991949" y="4804529"/>
            <a:ext cx="3064685" cy="400110"/>
          </a:xfrm>
          <a:prstGeom prst="rect">
            <a:avLst/>
          </a:prstGeom>
        </p:spPr>
        <p:txBody>
          <a:bodyPr wrap="none">
            <a:spAutoFit/>
          </a:bodyPr>
          <a:lstStyle/>
          <a:p>
            <a:pPr algn="just"/>
            <a:r>
              <a:rPr lang="en-US" sz="2000" u="sng" dirty="0" smtClean="0">
                <a:solidFill>
                  <a:schemeClr val="bg1"/>
                </a:solidFill>
              </a:rPr>
              <a:t>UNDER THE GUIDANCE OF -</a:t>
            </a:r>
            <a:endParaRPr lang="en-US" sz="2000" dirty="0"/>
          </a:p>
        </p:txBody>
      </p:sp>
      <p:sp>
        <p:nvSpPr>
          <p:cNvPr id="18" name="Rectangle 17"/>
          <p:cNvSpPr/>
          <p:nvPr/>
        </p:nvSpPr>
        <p:spPr>
          <a:xfrm>
            <a:off x="9116516" y="5462287"/>
            <a:ext cx="2048061" cy="369332"/>
          </a:xfrm>
          <a:prstGeom prst="rect">
            <a:avLst/>
          </a:prstGeom>
        </p:spPr>
        <p:txBody>
          <a:bodyPr wrap="none">
            <a:spAutoFit/>
          </a:bodyPr>
          <a:lstStyle/>
          <a:p>
            <a:pPr algn="just"/>
            <a:r>
              <a:rPr lang="en-US" dirty="0" smtClean="0">
                <a:solidFill>
                  <a:schemeClr val="bg1"/>
                </a:solidFill>
              </a:rPr>
              <a:t>(Assistant Lecturer)</a:t>
            </a:r>
            <a:endParaRPr lang="en-US" dirty="0"/>
          </a:p>
        </p:txBody>
      </p:sp>
      <p:sp>
        <p:nvSpPr>
          <p:cNvPr id="20" name="Rectangle 19"/>
          <p:cNvSpPr/>
          <p:nvPr/>
        </p:nvSpPr>
        <p:spPr>
          <a:xfrm>
            <a:off x="9116516" y="6147045"/>
            <a:ext cx="2048061" cy="369332"/>
          </a:xfrm>
          <a:prstGeom prst="rect">
            <a:avLst/>
          </a:prstGeom>
        </p:spPr>
        <p:txBody>
          <a:bodyPr wrap="none">
            <a:spAutoFit/>
          </a:bodyPr>
          <a:lstStyle/>
          <a:p>
            <a:r>
              <a:rPr lang="en-US" dirty="0" smtClean="0">
                <a:solidFill>
                  <a:schemeClr val="bg1"/>
                </a:solidFill>
              </a:rPr>
              <a:t> (Assistant Lecturer)</a:t>
            </a:r>
            <a:endParaRPr lang="en-US" dirty="0"/>
          </a:p>
        </p:txBody>
      </p:sp>
      <p:sp>
        <p:nvSpPr>
          <p:cNvPr id="10" name="TextBox 9"/>
          <p:cNvSpPr txBox="1"/>
          <p:nvPr/>
        </p:nvSpPr>
        <p:spPr>
          <a:xfrm>
            <a:off x="4339104" y="2283296"/>
            <a:ext cx="3007329" cy="430887"/>
          </a:xfrm>
          <a:prstGeom prst="rect">
            <a:avLst/>
          </a:prstGeom>
          <a:noFill/>
        </p:spPr>
        <p:txBody>
          <a:bodyPr wrap="square" rtlCol="0">
            <a:spAutoFit/>
          </a:bodyPr>
          <a:lstStyle/>
          <a:p>
            <a:pPr algn="ctr"/>
            <a:r>
              <a:rPr lang="en-US" sz="2200" b="1" dirty="0" smtClean="0">
                <a:solidFill>
                  <a:schemeClr val="bg1"/>
                </a:solidFill>
              </a:rPr>
              <a:t>EXPLORATORY PROJECT</a:t>
            </a:r>
            <a:endParaRPr lang="en-US" sz="2200" b="1" dirty="0">
              <a:solidFill>
                <a:schemeClr val="bg1"/>
              </a:solidFill>
            </a:endParaRPr>
          </a:p>
        </p:txBody>
      </p:sp>
      <p:sp>
        <p:nvSpPr>
          <p:cNvPr id="16" name="Rectangle 15"/>
          <p:cNvSpPr/>
          <p:nvPr/>
        </p:nvSpPr>
        <p:spPr>
          <a:xfrm>
            <a:off x="8991948" y="5210225"/>
            <a:ext cx="1961371" cy="369332"/>
          </a:xfrm>
          <a:prstGeom prst="rect">
            <a:avLst/>
          </a:prstGeom>
        </p:spPr>
        <p:txBody>
          <a:bodyPr wrap="none">
            <a:spAutoFit/>
          </a:bodyPr>
          <a:lstStyle/>
          <a:p>
            <a:pPr algn="just"/>
            <a:r>
              <a:rPr lang="en-US" b="1" dirty="0">
                <a:solidFill>
                  <a:schemeClr val="bg1"/>
                </a:solidFill>
              </a:rPr>
              <a:t>• Mr. PREMA RAM</a:t>
            </a:r>
            <a:endParaRPr lang="en-US" b="1" dirty="0"/>
          </a:p>
        </p:txBody>
      </p:sp>
      <p:sp>
        <p:nvSpPr>
          <p:cNvPr id="21" name="Rectangle 20"/>
          <p:cNvSpPr/>
          <p:nvPr/>
        </p:nvSpPr>
        <p:spPr>
          <a:xfrm>
            <a:off x="8991948" y="5846278"/>
            <a:ext cx="3150158" cy="400110"/>
          </a:xfrm>
          <a:prstGeom prst="rect">
            <a:avLst/>
          </a:prstGeom>
        </p:spPr>
        <p:txBody>
          <a:bodyPr wrap="none">
            <a:spAutoFit/>
          </a:bodyPr>
          <a:lstStyle/>
          <a:p>
            <a:pPr algn="just"/>
            <a:r>
              <a:rPr lang="en-US" sz="2000" b="1" dirty="0">
                <a:solidFill>
                  <a:srgbClr val="FFFFFF"/>
                </a:solidFill>
                <a:latin typeface="Calibri" panose="020F0502020204030204" pitchFamily="34" charset="0"/>
              </a:rPr>
              <a:t>•</a:t>
            </a:r>
            <a:r>
              <a:rPr lang="en-US" b="1" dirty="0">
                <a:solidFill>
                  <a:srgbClr val="FFFFFF"/>
                </a:solidFill>
                <a:latin typeface="Calibri" panose="020F0502020204030204" pitchFamily="34" charset="0"/>
              </a:rPr>
              <a:t>Mr. AJAY KUMAR KUSHWAHA</a:t>
            </a:r>
            <a:endParaRPr lang="en-US" dirty="0">
              <a:effectLst/>
            </a:endParaRPr>
          </a:p>
        </p:txBody>
      </p:sp>
    </p:spTree>
    <p:extLst>
      <p:ext uri="{BB962C8B-B14F-4D97-AF65-F5344CB8AC3E}">
        <p14:creationId xmlns:p14="http://schemas.microsoft.com/office/powerpoint/2010/main" val="282809555"/>
      </p:ext>
    </p:extLst>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9628" y="-2667000"/>
            <a:ext cx="6858000" cy="12192000"/>
          </a:xfrm>
          <a:prstGeom prst="rect">
            <a:avLst/>
          </a:prstGeom>
        </p:spPr>
      </p:pic>
      <p:sp>
        <p:nvSpPr>
          <p:cNvPr id="5" name="Rectangle 4"/>
          <p:cNvSpPr/>
          <p:nvPr/>
        </p:nvSpPr>
        <p:spPr>
          <a:xfrm>
            <a:off x="4379696" y="121029"/>
            <a:ext cx="3432606" cy="523220"/>
          </a:xfrm>
          <a:prstGeom prst="rect">
            <a:avLst/>
          </a:prstGeom>
        </p:spPr>
        <p:txBody>
          <a:bodyPr wrap="none">
            <a:spAutoFit/>
          </a:bodyPr>
          <a:lstStyle/>
          <a:p>
            <a:pPr algn="ctr"/>
            <a:r>
              <a:rPr lang="en-US" sz="2800" b="1" dirty="0" smtClean="0">
                <a:solidFill>
                  <a:srgbClr val="FFFF00"/>
                </a:solidFill>
                <a:latin typeface="Arial Black" panose="020B0A04020102020204" pitchFamily="34" charset="0"/>
              </a:rPr>
              <a:t> INTRODUCTION</a:t>
            </a:r>
            <a:endParaRPr lang="en-US" sz="2800" b="1" dirty="0">
              <a:solidFill>
                <a:srgbClr val="FFFF00"/>
              </a:solidFill>
              <a:latin typeface="Arial Black" panose="020B0A04020102020204" pitchFamily="34" charset="0"/>
            </a:endParaRPr>
          </a:p>
        </p:txBody>
      </p:sp>
      <p:sp>
        <p:nvSpPr>
          <p:cNvPr id="28" name="Rectangle 27"/>
          <p:cNvSpPr/>
          <p:nvPr/>
        </p:nvSpPr>
        <p:spPr>
          <a:xfrm>
            <a:off x="380407" y="768521"/>
            <a:ext cx="11221792" cy="1200329"/>
          </a:xfrm>
          <a:prstGeom prst="rect">
            <a:avLst/>
          </a:prstGeom>
        </p:spPr>
        <p:txBody>
          <a:bodyPr wrap="square">
            <a:spAutoFit/>
          </a:bodyPr>
          <a:lstStyle/>
          <a:p>
            <a:r>
              <a:rPr lang="en-US" sz="2400" dirty="0" smtClean="0">
                <a:solidFill>
                  <a:schemeClr val="bg1"/>
                </a:solidFill>
              </a:rPr>
              <a:t>Touch sensor technology has revolutionized the way we interact with electronic devices. From smartphones to modern home appliances, touch sensors provide intuitive and user-friendly interfaces.</a:t>
            </a:r>
            <a:endParaRPr lang="en-US" sz="2400" dirty="0">
              <a:solidFill>
                <a:schemeClr val="bg1"/>
              </a:solidFill>
            </a:endParaRPr>
          </a:p>
        </p:txBody>
      </p:sp>
      <p:sp>
        <p:nvSpPr>
          <p:cNvPr id="29" name="Rectangle 28"/>
          <p:cNvSpPr/>
          <p:nvPr/>
        </p:nvSpPr>
        <p:spPr>
          <a:xfrm>
            <a:off x="380407" y="2106940"/>
            <a:ext cx="11505126" cy="1569660"/>
          </a:xfrm>
          <a:prstGeom prst="rect">
            <a:avLst/>
          </a:prstGeom>
        </p:spPr>
        <p:txBody>
          <a:bodyPr wrap="square">
            <a:spAutoFit/>
          </a:bodyPr>
          <a:lstStyle/>
          <a:p>
            <a:r>
              <a:rPr lang="en-US" sz="2400" dirty="0" smtClean="0">
                <a:solidFill>
                  <a:schemeClr val="bg1"/>
                </a:solidFill>
              </a:rPr>
              <a:t>Our project explores the working principle, design, and applications of touch sensors, focusing on their significance in creating innovative solutions. By simulating real-world scenarios, we aim to understand the efficiency and adaptability of this cutting-edge technology.</a:t>
            </a:r>
            <a:endParaRPr lang="en-US" sz="2400" dirty="0">
              <a:solidFill>
                <a:schemeClr val="bg1"/>
              </a:solidFill>
            </a:endParaRPr>
          </a:p>
        </p:txBody>
      </p:sp>
      <p:sp>
        <p:nvSpPr>
          <p:cNvPr id="30" name="Rectangle 29"/>
          <p:cNvSpPr/>
          <p:nvPr/>
        </p:nvSpPr>
        <p:spPr>
          <a:xfrm>
            <a:off x="348691" y="5258400"/>
            <a:ext cx="11402096" cy="830997"/>
          </a:xfrm>
          <a:prstGeom prst="rect">
            <a:avLst/>
          </a:prstGeom>
        </p:spPr>
        <p:txBody>
          <a:bodyPr wrap="square">
            <a:spAutoFit/>
          </a:bodyPr>
          <a:lstStyle/>
          <a:p>
            <a:r>
              <a:rPr lang="en-US" sz="2400" dirty="0" smtClean="0">
                <a:solidFill>
                  <a:schemeClr val="bg1"/>
                </a:solidFill>
              </a:rPr>
              <a:t>This presentation will take you through the fundamentals of touch sensors, our project implementation, and the potential future advancements in this field."</a:t>
            </a:r>
            <a:endParaRPr lang="en-US" sz="2400" dirty="0">
              <a:solidFill>
                <a:schemeClr val="bg1"/>
              </a:solidFill>
            </a:endParaRPr>
          </a:p>
        </p:txBody>
      </p:sp>
      <p:sp>
        <p:nvSpPr>
          <p:cNvPr id="31" name="Rectangle 30"/>
          <p:cNvSpPr/>
          <p:nvPr/>
        </p:nvSpPr>
        <p:spPr>
          <a:xfrm>
            <a:off x="380407" y="3891434"/>
            <a:ext cx="11683766" cy="1200329"/>
          </a:xfrm>
          <a:prstGeom prst="rect">
            <a:avLst/>
          </a:prstGeom>
        </p:spPr>
        <p:txBody>
          <a:bodyPr wrap="square">
            <a:spAutoFit/>
          </a:bodyPr>
          <a:lstStyle/>
          <a:p>
            <a:r>
              <a:rPr lang="en-US" sz="2400" dirty="0" smtClean="0">
                <a:solidFill>
                  <a:schemeClr val="bg1"/>
                </a:solidFill>
              </a:rPr>
              <a:t>Incorporating touch sensors into everyday devices not only enhances user experience but also paves the way for smarter and more responsive systems. This technology represents a key step forward in bridging the gap between humans and machines."</a:t>
            </a:r>
            <a:endParaRPr lang="en-US" sz="2400" dirty="0">
              <a:solidFill>
                <a:schemeClr val="bg1"/>
              </a:solidFill>
            </a:endParaRPr>
          </a:p>
        </p:txBody>
      </p:sp>
    </p:spTree>
    <p:extLst>
      <p:ext uri="{BB962C8B-B14F-4D97-AF65-F5344CB8AC3E}">
        <p14:creationId xmlns:p14="http://schemas.microsoft.com/office/powerpoint/2010/main" val="38386155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6534" y="-2665549"/>
            <a:ext cx="6858000" cy="12192000"/>
          </a:xfrm>
          <a:prstGeom prst="rect">
            <a:avLst/>
          </a:prstGeom>
        </p:spPr>
      </p:pic>
      <p:sp>
        <p:nvSpPr>
          <p:cNvPr id="5" name="Rectangle 4"/>
          <p:cNvSpPr/>
          <p:nvPr/>
        </p:nvSpPr>
        <p:spPr>
          <a:xfrm>
            <a:off x="3312158" y="199163"/>
            <a:ext cx="6097888" cy="523220"/>
          </a:xfrm>
          <a:prstGeom prst="rect">
            <a:avLst/>
          </a:prstGeom>
        </p:spPr>
        <p:txBody>
          <a:bodyPr wrap="none">
            <a:spAutoFit/>
          </a:bodyPr>
          <a:lstStyle/>
          <a:p>
            <a:pPr algn="ctr"/>
            <a:r>
              <a:rPr lang="en-US" sz="2800" b="1" dirty="0" smtClean="0">
                <a:solidFill>
                  <a:srgbClr val="FFFF00"/>
                </a:solidFill>
                <a:latin typeface="Arial Black" panose="020B0A04020102020204" pitchFamily="34" charset="0"/>
              </a:rPr>
              <a:t>HARDWARE REQUIREMENTS </a:t>
            </a:r>
            <a:r>
              <a:rPr lang="en-US" sz="2800" dirty="0" smtClean="0">
                <a:solidFill>
                  <a:srgbClr val="FFFF00"/>
                </a:solidFill>
                <a:latin typeface="Arial Black" panose="020B0A04020102020204" pitchFamily="34" charset="0"/>
              </a:rPr>
              <a:t> </a:t>
            </a:r>
            <a:endParaRPr lang="en-US" sz="2800" b="1" dirty="0">
              <a:solidFill>
                <a:srgbClr val="FFFF00"/>
              </a:solidFill>
              <a:latin typeface="Arial Black" panose="020B0A04020102020204" pitchFamily="34" charset="0"/>
            </a:endParaRPr>
          </a:p>
        </p:txBody>
      </p:sp>
      <p:sp>
        <p:nvSpPr>
          <p:cNvPr id="6" name="TextBox 5"/>
          <p:cNvSpPr txBox="1"/>
          <p:nvPr/>
        </p:nvSpPr>
        <p:spPr>
          <a:xfrm>
            <a:off x="139521" y="860963"/>
            <a:ext cx="11912958" cy="1554272"/>
          </a:xfrm>
          <a:prstGeom prst="rect">
            <a:avLst/>
          </a:prstGeom>
          <a:noFill/>
        </p:spPr>
        <p:txBody>
          <a:bodyPr wrap="square" rtlCol="0">
            <a:spAutoFit/>
          </a:bodyPr>
          <a:lstStyle/>
          <a:p>
            <a:r>
              <a:rPr lang="en-US" sz="1900" i="1" dirty="0" smtClean="0">
                <a:solidFill>
                  <a:schemeClr val="bg1"/>
                </a:solidFill>
              </a:rPr>
              <a:t>Hardware of this project consists of a transistor, two resistors, an LED, Pushbutton switch.</a:t>
            </a:r>
          </a:p>
          <a:p>
            <a:r>
              <a:rPr lang="en-US" sz="1900" i="1" dirty="0" smtClean="0">
                <a:solidFill>
                  <a:schemeClr val="bg1"/>
                </a:solidFill>
              </a:rPr>
              <a:t>The touch sensor circuit with a transistor works by utilizing the transistor as a switch that activates when a small voltage is applied through the touch input. When a conductive object, such as a human finger, touches the sensor plate (a metallic pad or wire), it allows a small current to flow into the base of the transistor. This current is enough to switch the transistor from its OFF state to the ON state.</a:t>
            </a:r>
            <a:endParaRPr lang="en-US" sz="1900" i="1" dirty="0">
              <a:solidFill>
                <a:schemeClr val="bg1"/>
              </a:solidFill>
            </a:endParaRPr>
          </a:p>
        </p:txBody>
      </p:sp>
      <p:sp>
        <p:nvSpPr>
          <p:cNvPr id="7" name="Rectangle 6"/>
          <p:cNvSpPr/>
          <p:nvPr/>
        </p:nvSpPr>
        <p:spPr>
          <a:xfrm>
            <a:off x="52542" y="2777804"/>
            <a:ext cx="2412712" cy="492443"/>
          </a:xfrm>
          <a:prstGeom prst="rect">
            <a:avLst/>
          </a:prstGeom>
        </p:spPr>
        <p:txBody>
          <a:bodyPr wrap="none">
            <a:spAutoFit/>
          </a:bodyPr>
          <a:lstStyle/>
          <a:p>
            <a:pPr algn="just"/>
            <a:r>
              <a:rPr lang="en-US" sz="2600" b="1" dirty="0" smtClean="0">
                <a:solidFill>
                  <a:schemeClr val="bg1"/>
                </a:solidFill>
              </a:rPr>
              <a:t>Hardware Used:</a:t>
            </a:r>
            <a:endParaRPr lang="en-US" sz="2600" b="1" dirty="0">
              <a:solidFill>
                <a:schemeClr val="bg1"/>
              </a:solidFill>
            </a:endParaRPr>
          </a:p>
        </p:txBody>
      </p:sp>
      <p:sp>
        <p:nvSpPr>
          <p:cNvPr id="8" name="TextBox 7"/>
          <p:cNvSpPr txBox="1"/>
          <p:nvPr/>
        </p:nvSpPr>
        <p:spPr>
          <a:xfrm>
            <a:off x="275845" y="3209623"/>
            <a:ext cx="1921099" cy="369332"/>
          </a:xfrm>
          <a:prstGeom prst="rect">
            <a:avLst/>
          </a:prstGeom>
          <a:noFill/>
        </p:spPr>
        <p:txBody>
          <a:bodyPr wrap="square" rtlCol="0">
            <a:spAutoFit/>
          </a:bodyPr>
          <a:lstStyle/>
          <a:p>
            <a:r>
              <a:rPr lang="en-US" b="1" dirty="0" smtClean="0">
                <a:solidFill>
                  <a:schemeClr val="bg1"/>
                </a:solidFill>
              </a:rPr>
              <a:t>1. TRANSISTOR:</a:t>
            </a:r>
            <a:endParaRPr lang="en-US" dirty="0" smtClean="0">
              <a:solidFill>
                <a:schemeClr val="bg1"/>
              </a:solidFill>
            </a:endParaRPr>
          </a:p>
        </p:txBody>
      </p:sp>
      <p:sp>
        <p:nvSpPr>
          <p:cNvPr id="18" name="Rectangle 6"/>
          <p:cNvSpPr>
            <a:spLocks noChangeArrowheads="1"/>
          </p:cNvSpPr>
          <p:nvPr/>
        </p:nvSpPr>
        <p:spPr bwMode="auto">
          <a:xfrm>
            <a:off x="1865407" y="3209623"/>
            <a:ext cx="9931641"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900" b="0" i="1" u="none" strike="noStrike" cap="none" normalizeH="0" baseline="0" dirty="0" smtClean="0">
                <a:ln>
                  <a:noFill/>
                </a:ln>
                <a:solidFill>
                  <a:schemeClr val="bg1"/>
                </a:solidFill>
                <a:effectLst/>
              </a:rPr>
              <a:t>Touching the sensor plate sends a small current to the transistor's base, turning it ON and activating an output like an LED or buzzer. Removing the touch turns the transistor OFF.</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900" b="0" i="1" u="none" strike="noStrike" cap="none" normalizeH="0" baseline="0" dirty="0" smtClean="0">
              <a:ln>
                <a:noFill/>
              </a:ln>
              <a:solidFill>
                <a:schemeClr val="bg1"/>
              </a:solidFill>
              <a:effectLst/>
            </a:endParaRPr>
          </a:p>
        </p:txBody>
      </p:sp>
      <p:pic>
        <p:nvPicPr>
          <p:cNvPr id="19" name="Pictur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8665" y="3991577"/>
            <a:ext cx="3673737" cy="2716595"/>
          </a:xfrm>
          <a:prstGeom prst="rect">
            <a:avLst/>
          </a:prstGeom>
        </p:spPr>
      </p:pic>
    </p:spTree>
    <p:extLst>
      <p:ext uri="{BB962C8B-B14F-4D97-AF65-F5344CB8AC3E}">
        <p14:creationId xmlns:p14="http://schemas.microsoft.com/office/powerpoint/2010/main" val="41096071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solidFill>
                <a:schemeClr val="bg1"/>
              </a:solidFill>
            </a:endParaRPr>
          </a:p>
        </p:txBody>
      </p:sp>
      <p:sp>
        <p:nvSpPr>
          <p:cNvPr id="3" name="Subtitle 2"/>
          <p:cNvSpPr>
            <a:spLocks noGrp="1"/>
          </p:cNvSpPr>
          <p:nvPr>
            <p:ph type="subTitle" idx="1"/>
          </p:nvPr>
        </p:nvSpPr>
        <p:spPr/>
        <p:txBody>
          <a:bodyPr/>
          <a:lstStyle/>
          <a:p>
            <a:endParaRPr lang="en-US" dirty="0">
              <a:solidFill>
                <a:schemeClr val="bg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6999" y="-2667000"/>
            <a:ext cx="6858000" cy="12192000"/>
          </a:xfrm>
          <a:prstGeom prst="rect">
            <a:avLst/>
          </a:prstGeom>
        </p:spPr>
      </p:pic>
      <p:sp>
        <p:nvSpPr>
          <p:cNvPr id="5" name="Rectangle 4"/>
          <p:cNvSpPr/>
          <p:nvPr/>
        </p:nvSpPr>
        <p:spPr>
          <a:xfrm>
            <a:off x="318693" y="314960"/>
            <a:ext cx="1843903" cy="492443"/>
          </a:xfrm>
          <a:prstGeom prst="rect">
            <a:avLst/>
          </a:prstGeom>
        </p:spPr>
        <p:txBody>
          <a:bodyPr wrap="none">
            <a:spAutoFit/>
          </a:bodyPr>
          <a:lstStyle/>
          <a:p>
            <a:pPr algn="ctr"/>
            <a:r>
              <a:rPr lang="en-US" sz="2600" b="1" dirty="0" smtClean="0">
                <a:solidFill>
                  <a:schemeClr val="bg1"/>
                </a:solidFill>
              </a:rPr>
              <a:t>2. Resistors:</a:t>
            </a:r>
            <a:endParaRPr lang="en-US" sz="2600" b="1" dirty="0">
              <a:solidFill>
                <a:schemeClr val="bg1"/>
              </a:solidFill>
            </a:endParaRPr>
          </a:p>
        </p:txBody>
      </p:sp>
      <p:sp>
        <p:nvSpPr>
          <p:cNvPr id="6" name="Rectangle 1"/>
          <p:cNvSpPr>
            <a:spLocks noChangeArrowheads="1"/>
          </p:cNvSpPr>
          <p:nvPr/>
        </p:nvSpPr>
        <p:spPr bwMode="auto">
          <a:xfrm>
            <a:off x="2162596" y="322655"/>
            <a:ext cx="10029404"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900" b="0" i="1" u="none" strike="noStrike" cap="none" normalizeH="0" baseline="0" dirty="0" smtClean="0">
                <a:ln>
                  <a:noFill/>
                </a:ln>
                <a:solidFill>
                  <a:schemeClr val="bg1"/>
                </a:solidFill>
                <a:effectLst/>
              </a:rPr>
              <a:t>A resistor is an electrical component that limits or regulates the flow of current in a circuit. It is used to protect components, divide voltage, and control current, ensuring the circuit operates safely and efficiently.</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4436" y="1366838"/>
            <a:ext cx="2143125" cy="2143125"/>
          </a:xfrm>
          <a:prstGeom prst="rect">
            <a:avLst/>
          </a:prstGeom>
        </p:spPr>
      </p:pic>
      <p:sp>
        <p:nvSpPr>
          <p:cNvPr id="8" name="Rectangle 7"/>
          <p:cNvSpPr/>
          <p:nvPr/>
        </p:nvSpPr>
        <p:spPr>
          <a:xfrm>
            <a:off x="401576" y="3756563"/>
            <a:ext cx="1122423" cy="492443"/>
          </a:xfrm>
          <a:prstGeom prst="rect">
            <a:avLst/>
          </a:prstGeom>
        </p:spPr>
        <p:txBody>
          <a:bodyPr wrap="none">
            <a:spAutoFit/>
          </a:bodyPr>
          <a:lstStyle/>
          <a:p>
            <a:pPr algn="ctr"/>
            <a:r>
              <a:rPr lang="en-US" sz="2600" b="1" dirty="0" smtClean="0">
                <a:solidFill>
                  <a:schemeClr val="bg1"/>
                </a:solidFill>
              </a:rPr>
              <a:t>3. LED:</a:t>
            </a:r>
            <a:endParaRPr lang="en-US" sz="2600" b="1" dirty="0">
              <a:solidFill>
                <a:schemeClr val="bg1"/>
              </a:solidFill>
            </a:endParaRPr>
          </a:p>
        </p:txBody>
      </p:sp>
      <p:sp>
        <p:nvSpPr>
          <p:cNvPr id="9" name="Rectangle 2"/>
          <p:cNvSpPr>
            <a:spLocks noChangeArrowheads="1"/>
          </p:cNvSpPr>
          <p:nvPr/>
        </p:nvSpPr>
        <p:spPr bwMode="auto">
          <a:xfrm>
            <a:off x="1656222" y="3751910"/>
            <a:ext cx="101135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1" u="none" strike="noStrike" cap="none" normalizeH="0" baseline="0" dirty="0" smtClean="0">
                <a:ln>
                  <a:noFill/>
                </a:ln>
                <a:solidFill>
                  <a:schemeClr val="bg1"/>
                </a:solidFill>
                <a:effectLst/>
              </a:rPr>
              <a:t>An LED (Light Emitting Diode) is a semiconductor device that emits light when current flows through it. It is energy-efficient, long-lasting, and commonly used for indicators, displays, and lighting.</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70664" y="4434863"/>
            <a:ext cx="3450668" cy="2148825"/>
          </a:xfrm>
          <a:prstGeom prst="rect">
            <a:avLst/>
          </a:prstGeom>
        </p:spPr>
      </p:pic>
    </p:spTree>
    <p:extLst>
      <p:ext uri="{BB962C8B-B14F-4D97-AF65-F5344CB8AC3E}">
        <p14:creationId xmlns:p14="http://schemas.microsoft.com/office/powerpoint/2010/main" val="40418278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
        <p:nvSpPr>
          <p:cNvPr id="5" name="TextBox 4"/>
          <p:cNvSpPr txBox="1"/>
          <p:nvPr/>
        </p:nvSpPr>
        <p:spPr>
          <a:xfrm>
            <a:off x="334851" y="314960"/>
            <a:ext cx="2730321" cy="492443"/>
          </a:xfrm>
          <a:prstGeom prst="rect">
            <a:avLst/>
          </a:prstGeom>
          <a:noFill/>
        </p:spPr>
        <p:txBody>
          <a:bodyPr wrap="square" rtlCol="0">
            <a:spAutoFit/>
          </a:bodyPr>
          <a:lstStyle/>
          <a:p>
            <a:r>
              <a:rPr lang="en-US" sz="2600" b="1" dirty="0" smtClean="0">
                <a:solidFill>
                  <a:schemeClr val="bg1"/>
                </a:solidFill>
              </a:rPr>
              <a:t>4. PUSHBUTTON: </a:t>
            </a:r>
            <a:endParaRPr lang="en-US" sz="2600" b="1" dirty="0">
              <a:solidFill>
                <a:schemeClr val="bg1"/>
              </a:solidFill>
            </a:endParaRPr>
          </a:p>
        </p:txBody>
      </p:sp>
      <p:sp>
        <p:nvSpPr>
          <p:cNvPr id="6" name="Rectangle 1"/>
          <p:cNvSpPr>
            <a:spLocks noChangeArrowheads="1"/>
          </p:cNvSpPr>
          <p:nvPr/>
        </p:nvSpPr>
        <p:spPr bwMode="auto">
          <a:xfrm>
            <a:off x="2860511" y="365791"/>
            <a:ext cx="9263269"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900" b="0" i="1" u="none" strike="noStrike" cap="none" normalizeH="0" baseline="0" dirty="0" smtClean="0">
                <a:ln>
                  <a:noFill/>
                </a:ln>
                <a:solidFill>
                  <a:schemeClr val="bg1"/>
                </a:solidFill>
                <a:effectLst/>
              </a:rPr>
              <a:t>A pushbutton is a simple mechanical switch that opens or closes a circuit when pressed. It is commonly used for user input in devices, such as turning on/off systems or triggering actions.</a:t>
            </a:r>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3055" y="1178810"/>
            <a:ext cx="2460941" cy="2245250"/>
          </a:xfrm>
          <a:prstGeom prst="rect">
            <a:avLst/>
          </a:prstGeom>
        </p:spPr>
      </p:pic>
      <p:sp>
        <p:nvSpPr>
          <p:cNvPr id="14" name="TextBox 13"/>
          <p:cNvSpPr txBox="1"/>
          <p:nvPr/>
        </p:nvSpPr>
        <p:spPr>
          <a:xfrm>
            <a:off x="334851" y="3694979"/>
            <a:ext cx="1918952" cy="492443"/>
          </a:xfrm>
          <a:prstGeom prst="rect">
            <a:avLst/>
          </a:prstGeom>
          <a:noFill/>
        </p:spPr>
        <p:txBody>
          <a:bodyPr wrap="square" rtlCol="0">
            <a:spAutoFit/>
          </a:bodyPr>
          <a:lstStyle/>
          <a:p>
            <a:r>
              <a:rPr lang="en-US" sz="2600" b="1" dirty="0" smtClean="0">
                <a:solidFill>
                  <a:schemeClr val="bg1"/>
                </a:solidFill>
              </a:rPr>
              <a:t>5. BATTERY:</a:t>
            </a:r>
            <a:endParaRPr lang="en-US" sz="2600" b="1" dirty="0">
              <a:solidFill>
                <a:schemeClr val="bg1"/>
              </a:solidFill>
            </a:endParaRPr>
          </a:p>
        </p:txBody>
      </p:sp>
      <p:sp>
        <p:nvSpPr>
          <p:cNvPr id="15" name="Rectangle 2"/>
          <p:cNvSpPr>
            <a:spLocks noChangeArrowheads="1"/>
          </p:cNvSpPr>
          <p:nvPr/>
        </p:nvSpPr>
        <p:spPr bwMode="auto">
          <a:xfrm>
            <a:off x="2120815" y="3727805"/>
            <a:ext cx="10002965"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900" b="0" i="1" u="none" strike="noStrike" cap="none" normalizeH="0" baseline="0" dirty="0" smtClean="0">
                <a:ln>
                  <a:noFill/>
                </a:ln>
                <a:solidFill>
                  <a:schemeClr val="bg1"/>
                </a:solidFill>
                <a:effectLst/>
                <a:latin typeface="Arial" panose="020B0604020202020204" pitchFamily="34" charset="0"/>
              </a:rPr>
              <a:t>A battery is a portable energy source that stores electrical energy in chemical form and releases it as electrical power when needed. It consists of one or more electrochemical cells and is used to power electronic devices, from small gadgets to larger systems.</a:t>
            </a:r>
          </a:p>
        </p:txBody>
      </p:sp>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32141" y="4727088"/>
            <a:ext cx="2362767" cy="1954008"/>
          </a:xfrm>
          <a:prstGeom prst="rect">
            <a:avLst/>
          </a:prstGeom>
        </p:spPr>
      </p:pic>
    </p:spTree>
    <p:extLst>
      <p:ext uri="{BB962C8B-B14F-4D97-AF65-F5344CB8AC3E}">
        <p14:creationId xmlns:p14="http://schemas.microsoft.com/office/powerpoint/2010/main" val="19809069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
        <p:nvSpPr>
          <p:cNvPr id="5" name="Rectangle 4"/>
          <p:cNvSpPr/>
          <p:nvPr/>
        </p:nvSpPr>
        <p:spPr>
          <a:xfrm>
            <a:off x="356315" y="45403"/>
            <a:ext cx="2335369" cy="984885"/>
          </a:xfrm>
          <a:prstGeom prst="rect">
            <a:avLst/>
          </a:prstGeom>
        </p:spPr>
        <p:txBody>
          <a:bodyPr wrap="square">
            <a:spAutoFit/>
          </a:bodyPr>
          <a:lstStyle/>
          <a:p>
            <a:r>
              <a:rPr lang="en-US" sz="2600" b="1" dirty="0" smtClean="0">
                <a:solidFill>
                  <a:schemeClr val="bg1"/>
                </a:solidFill>
              </a:rPr>
              <a:t>Hand </a:t>
            </a:r>
            <a:r>
              <a:rPr lang="en-US" sz="3200" b="1" dirty="0" smtClean="0">
                <a:solidFill>
                  <a:schemeClr val="bg1"/>
                </a:solidFill>
              </a:rPr>
              <a:t>tools</a:t>
            </a:r>
            <a:r>
              <a:rPr lang="en-US" sz="2600" b="1" dirty="0" smtClean="0">
                <a:solidFill>
                  <a:schemeClr val="bg1"/>
                </a:solidFill>
              </a:rPr>
              <a:t>:</a:t>
            </a:r>
          </a:p>
          <a:p>
            <a:endParaRPr lang="en-US" sz="2600" b="1" dirty="0">
              <a:solidFill>
                <a:schemeClr val="bg1"/>
              </a:solidFill>
            </a:endParaRPr>
          </a:p>
        </p:txBody>
      </p:sp>
      <p:sp>
        <p:nvSpPr>
          <p:cNvPr id="6" name="Rectangle 5"/>
          <p:cNvSpPr/>
          <p:nvPr/>
        </p:nvSpPr>
        <p:spPr>
          <a:xfrm>
            <a:off x="317770" y="736084"/>
            <a:ext cx="2622834" cy="492443"/>
          </a:xfrm>
          <a:prstGeom prst="rect">
            <a:avLst/>
          </a:prstGeom>
        </p:spPr>
        <p:txBody>
          <a:bodyPr wrap="none">
            <a:spAutoFit/>
          </a:bodyPr>
          <a:lstStyle/>
          <a:p>
            <a:r>
              <a:rPr lang="en-US" sz="2600" b="1" i="1" dirty="0" smtClean="0">
                <a:solidFill>
                  <a:schemeClr val="bg1"/>
                </a:solidFill>
              </a:rPr>
              <a:t>1. Soldering Iron: </a:t>
            </a:r>
            <a:endParaRPr lang="en-US" sz="2600" b="1" i="1" dirty="0">
              <a:solidFill>
                <a:schemeClr val="bg1"/>
              </a:solidFill>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9272" y="1879436"/>
            <a:ext cx="2413456" cy="1986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p:cNvSpPr>
            <a:spLocks noChangeArrowheads="1"/>
          </p:cNvSpPr>
          <p:nvPr/>
        </p:nvSpPr>
        <p:spPr bwMode="auto">
          <a:xfrm>
            <a:off x="2816087" y="743779"/>
            <a:ext cx="8613913"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900" b="0" i="1" u="none" strike="noStrike" cap="none" normalizeH="0" baseline="0" dirty="0" smtClean="0">
                <a:ln>
                  <a:noFill/>
                </a:ln>
                <a:solidFill>
                  <a:schemeClr val="bg1"/>
                </a:solidFill>
                <a:effectLst/>
              </a:rPr>
              <a:t>A soldering iron is a tool used to melt solder, a metal alloy, to join electronic components together. It heats up to a high temperature, allowing the solder to flow and create strong electrical connections on circuit boards.</a:t>
            </a:r>
          </a:p>
        </p:txBody>
      </p:sp>
      <p:sp>
        <p:nvSpPr>
          <p:cNvPr id="9" name="Rectangle 8"/>
          <p:cNvSpPr/>
          <p:nvPr/>
        </p:nvSpPr>
        <p:spPr>
          <a:xfrm>
            <a:off x="317770" y="4047512"/>
            <a:ext cx="2281458" cy="492443"/>
          </a:xfrm>
          <a:prstGeom prst="rect">
            <a:avLst/>
          </a:prstGeom>
        </p:spPr>
        <p:txBody>
          <a:bodyPr wrap="none">
            <a:spAutoFit/>
          </a:bodyPr>
          <a:lstStyle/>
          <a:p>
            <a:r>
              <a:rPr lang="en-US" sz="2600" b="1" i="1" dirty="0">
                <a:solidFill>
                  <a:schemeClr val="bg1"/>
                </a:solidFill>
              </a:rPr>
              <a:t>2</a:t>
            </a:r>
            <a:r>
              <a:rPr lang="en-US" sz="2600" b="1" i="1" dirty="0" smtClean="0">
                <a:solidFill>
                  <a:schemeClr val="bg1"/>
                </a:solidFill>
              </a:rPr>
              <a:t>. Wire Cutter: </a:t>
            </a:r>
            <a:endParaRPr lang="en-US" sz="2600" b="1" i="1" dirty="0">
              <a:solidFill>
                <a:schemeClr val="bg1"/>
              </a:solidFill>
            </a:endParaRPr>
          </a:p>
        </p:txBody>
      </p:sp>
      <p:sp>
        <p:nvSpPr>
          <p:cNvPr id="10" name="Rectangle 2"/>
          <p:cNvSpPr>
            <a:spLocks noChangeArrowheads="1"/>
          </p:cNvSpPr>
          <p:nvPr/>
        </p:nvSpPr>
        <p:spPr bwMode="auto">
          <a:xfrm>
            <a:off x="2544852" y="4080485"/>
            <a:ext cx="951575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1" u="none" strike="noStrike" cap="none" normalizeH="0" baseline="0" dirty="0" smtClean="0">
                <a:ln>
                  <a:noFill/>
                </a:ln>
                <a:solidFill>
                  <a:schemeClr val="bg1"/>
                </a:solidFill>
                <a:effectLst/>
              </a:rPr>
              <a:t>A wire cutter is a tool used to cut wires and cables. It has sharp blades that allow for clean, precise cuts, making it essential for electrical work, electronics, and general wire management.</a:t>
            </a:r>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6312" y="4864709"/>
            <a:ext cx="2619375" cy="1743075"/>
          </a:xfrm>
          <a:prstGeom prst="rect">
            <a:avLst/>
          </a:prstGeom>
        </p:spPr>
      </p:pic>
    </p:spTree>
    <p:extLst>
      <p:ext uri="{BB962C8B-B14F-4D97-AF65-F5344CB8AC3E}">
        <p14:creationId xmlns:p14="http://schemas.microsoft.com/office/powerpoint/2010/main" val="3742022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
        <p:nvSpPr>
          <p:cNvPr id="5" name="Rectangle 4"/>
          <p:cNvSpPr/>
          <p:nvPr/>
        </p:nvSpPr>
        <p:spPr>
          <a:xfrm>
            <a:off x="3725536" y="317560"/>
            <a:ext cx="4923656" cy="523220"/>
          </a:xfrm>
          <a:prstGeom prst="rect">
            <a:avLst/>
          </a:prstGeom>
        </p:spPr>
        <p:txBody>
          <a:bodyPr wrap="none">
            <a:spAutoFit/>
          </a:bodyPr>
          <a:lstStyle/>
          <a:p>
            <a:pPr algn="ctr"/>
            <a:r>
              <a:rPr lang="en-US" sz="2800" b="1" dirty="0" smtClean="0">
                <a:solidFill>
                  <a:srgbClr val="FFFF00"/>
                </a:solidFill>
                <a:latin typeface="Arial Black" panose="020B0A04020102020204" pitchFamily="34" charset="0"/>
              </a:rPr>
              <a:t> WORKING OF PROJECT</a:t>
            </a:r>
            <a:endParaRPr lang="en-US" sz="2800" dirty="0">
              <a:solidFill>
                <a:srgbClr val="FFFF00"/>
              </a:solidFill>
              <a:latin typeface="Arial Black" panose="020B0A04020102020204" pitchFamily="34" charset="0"/>
            </a:endParaRPr>
          </a:p>
        </p:txBody>
      </p:sp>
      <p:sp>
        <p:nvSpPr>
          <p:cNvPr id="6" name="Rectangle 1"/>
          <p:cNvSpPr>
            <a:spLocks noChangeArrowheads="1"/>
          </p:cNvSpPr>
          <p:nvPr/>
        </p:nvSpPr>
        <p:spPr bwMode="auto">
          <a:xfrm>
            <a:off x="667834" y="840780"/>
            <a:ext cx="1103905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1" u="none" strike="noStrike" cap="none" normalizeH="0" baseline="0" dirty="0" smtClean="0">
                <a:ln>
                  <a:noFill/>
                </a:ln>
                <a:solidFill>
                  <a:schemeClr val="bg1"/>
                </a:solidFill>
                <a:effectLst/>
              </a:rPr>
              <a:t>In this touch sensor project, the working begins when a user touches the sensor plate, which detects the presence of the finger. The touch allows a small current to flow into the base of the transistor, which acts as a switch. Once the base current reaches a certain threshold, the transistor is activated, allowing a larger current to flow from the collector to the emitter. This in turn powers the connected LED, causing it to light up. A resistor is used in the circuit to regulate the current and protect the LED. If a pushbutton is incorporated, pressing it resets the circuit, turning off the LED and returning the system to its initial state. The project is powered by a battery or power supply, ensuring efficient operation with low power consumption, thanks to the use of a transistor for amplification and control. This setup demonstrates the interaction between a touch sensor, transistor, and LED, with the pushbutton providing manual control.</a:t>
            </a:r>
          </a:p>
        </p:txBody>
      </p:sp>
      <p:pic>
        <p:nvPicPr>
          <p:cNvPr id="8" name="Picture 7"/>
          <p:cNvPicPr>
            <a:picLocks noChangeAspect="1"/>
          </p:cNvPicPr>
          <p:nvPr/>
        </p:nvPicPr>
        <p:blipFill rotWithShape="1">
          <a:blip r:embed="rId3"/>
          <a:srcRect t="6597" b="4301"/>
          <a:stretch/>
        </p:blipFill>
        <p:spPr>
          <a:xfrm>
            <a:off x="4761629" y="3233559"/>
            <a:ext cx="2625678" cy="3489213"/>
          </a:xfrm>
          <a:prstGeom prst="rect">
            <a:avLst/>
          </a:prstGeom>
        </p:spPr>
      </p:pic>
    </p:spTree>
    <p:extLst>
      <p:ext uri="{BB962C8B-B14F-4D97-AF65-F5344CB8AC3E}">
        <p14:creationId xmlns:p14="http://schemas.microsoft.com/office/powerpoint/2010/main" val="34337867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
        <p:nvSpPr>
          <p:cNvPr id="5" name="Rectangle 4"/>
          <p:cNvSpPr/>
          <p:nvPr/>
        </p:nvSpPr>
        <p:spPr>
          <a:xfrm>
            <a:off x="2607772" y="151662"/>
            <a:ext cx="6976462" cy="523220"/>
          </a:xfrm>
          <a:prstGeom prst="rect">
            <a:avLst/>
          </a:prstGeom>
        </p:spPr>
        <p:txBody>
          <a:bodyPr wrap="none">
            <a:spAutoFit/>
          </a:bodyPr>
          <a:lstStyle/>
          <a:p>
            <a:pPr algn="ctr"/>
            <a:r>
              <a:rPr lang="en-US" sz="2800" b="1" dirty="0" smtClean="0">
                <a:solidFill>
                  <a:srgbClr val="FFFF00"/>
                </a:solidFill>
                <a:latin typeface="Arial Black" panose="020B0A04020102020204" pitchFamily="34" charset="0"/>
              </a:rPr>
              <a:t>TINKERCAD CIRCUIT AND DESIGN</a:t>
            </a:r>
            <a:endParaRPr lang="en-US" sz="2800" dirty="0">
              <a:solidFill>
                <a:srgbClr val="FFFF00"/>
              </a:solidFill>
              <a:latin typeface="Arial Black" panose="020B0A04020102020204"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296" y="1945375"/>
            <a:ext cx="5222467" cy="3438525"/>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3059" y="1969656"/>
            <a:ext cx="6353669" cy="3438144"/>
          </a:xfrm>
          <a:prstGeom prst="rect">
            <a:avLst/>
          </a:prstGeom>
        </p:spPr>
      </p:pic>
    </p:spTree>
    <p:extLst>
      <p:ext uri="{BB962C8B-B14F-4D97-AF65-F5344CB8AC3E}">
        <p14:creationId xmlns:p14="http://schemas.microsoft.com/office/powerpoint/2010/main" val="31527705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8" y="365125"/>
            <a:ext cx="10515600" cy="1325563"/>
          </a:xfrm>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rot="5400000">
            <a:off x="2666999" y="-2667000"/>
            <a:ext cx="6857998" cy="12192002"/>
          </a:xfr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3708" y="4600279"/>
            <a:ext cx="5199610" cy="2139235"/>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028" y="1316538"/>
            <a:ext cx="3557016" cy="2995110"/>
          </a:xfrm>
          <a:prstGeom prst="rect">
            <a:avLst/>
          </a:prstGeom>
        </p:spPr>
      </p:pic>
      <p:sp>
        <p:nvSpPr>
          <p:cNvPr id="9" name="TextBox 8"/>
          <p:cNvSpPr txBox="1"/>
          <p:nvPr/>
        </p:nvSpPr>
        <p:spPr>
          <a:xfrm>
            <a:off x="2686700" y="195754"/>
            <a:ext cx="6818596" cy="523220"/>
          </a:xfrm>
          <a:prstGeom prst="rect">
            <a:avLst/>
          </a:prstGeom>
          <a:noFill/>
        </p:spPr>
        <p:txBody>
          <a:bodyPr wrap="square" rtlCol="0">
            <a:spAutoFit/>
          </a:bodyPr>
          <a:lstStyle/>
          <a:p>
            <a:pPr algn="ctr"/>
            <a:r>
              <a:rPr lang="en-US" sz="2800" b="1" dirty="0" smtClean="0">
                <a:solidFill>
                  <a:srgbClr val="FFFF00"/>
                </a:solidFill>
                <a:latin typeface="Arial Black" panose="020B0A04020102020204" pitchFamily="34" charset="0"/>
              </a:rPr>
              <a:t>ESAYEDA CIRCUIT AND DESIGN</a:t>
            </a:r>
            <a:endParaRPr lang="en-US" sz="2800" b="1" dirty="0">
              <a:solidFill>
                <a:srgbClr val="FFFF00"/>
              </a:solidFill>
              <a:latin typeface="Arial Black" panose="020B0A04020102020204" pitchFamily="34" charset="0"/>
            </a:endParaRPr>
          </a:p>
        </p:txBody>
      </p:sp>
      <p:pic>
        <p:nvPicPr>
          <p:cNvPr id="10" name="Content Placeholder 4"/>
          <p:cNvPicPr>
            <a:picLocks noChangeAspect="1"/>
          </p:cNvPicPr>
          <p:nvPr/>
        </p:nvPicPr>
        <p:blipFill rotWithShape="1">
          <a:blip r:embed="rId5">
            <a:extLst>
              <a:ext uri="{28A0092B-C50C-407E-A947-70E740481C1C}">
                <a14:useLocalDpi xmlns:a14="http://schemas.microsoft.com/office/drawing/2010/main" val="0"/>
              </a:ext>
            </a:extLst>
          </a:blip>
          <a:srcRect l="3663" r="2075"/>
          <a:stretch/>
        </p:blipFill>
        <p:spPr>
          <a:xfrm>
            <a:off x="8293318" y="1345570"/>
            <a:ext cx="3361078" cy="2958140"/>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33890" y="1322456"/>
            <a:ext cx="3364992" cy="2958140"/>
          </a:xfrm>
          <a:prstGeom prst="rect">
            <a:avLst/>
          </a:prstGeom>
        </p:spPr>
      </p:pic>
      <p:sp>
        <p:nvSpPr>
          <p:cNvPr id="14" name="TextBox 13"/>
          <p:cNvSpPr txBox="1"/>
          <p:nvPr/>
        </p:nvSpPr>
        <p:spPr>
          <a:xfrm>
            <a:off x="265028" y="827851"/>
            <a:ext cx="1395903" cy="400110"/>
          </a:xfrm>
          <a:prstGeom prst="rect">
            <a:avLst/>
          </a:prstGeom>
          <a:noFill/>
        </p:spPr>
        <p:txBody>
          <a:bodyPr wrap="square" rtlCol="0">
            <a:spAutoFit/>
          </a:bodyPr>
          <a:lstStyle/>
          <a:p>
            <a:r>
              <a:rPr lang="en-US" sz="2000" b="1" i="1" dirty="0" smtClean="0">
                <a:solidFill>
                  <a:schemeClr val="bg1"/>
                </a:solidFill>
              </a:rPr>
              <a:t>3D MODEL:</a:t>
            </a:r>
            <a:endParaRPr lang="en-US" sz="2000" b="1" i="1" dirty="0">
              <a:solidFill>
                <a:schemeClr val="bg1"/>
              </a:solidFill>
            </a:endParaRPr>
          </a:p>
        </p:txBody>
      </p:sp>
      <p:sp>
        <p:nvSpPr>
          <p:cNvPr id="15" name="TextBox 14"/>
          <p:cNvSpPr txBox="1"/>
          <p:nvPr/>
        </p:nvSpPr>
        <p:spPr>
          <a:xfrm>
            <a:off x="4234273" y="899431"/>
            <a:ext cx="4187728" cy="369332"/>
          </a:xfrm>
          <a:prstGeom prst="rect">
            <a:avLst/>
          </a:prstGeom>
          <a:noFill/>
        </p:spPr>
        <p:txBody>
          <a:bodyPr wrap="square" rtlCol="0">
            <a:spAutoFit/>
          </a:bodyPr>
          <a:lstStyle/>
          <a:p>
            <a:r>
              <a:rPr lang="en-US" b="1" i="1" dirty="0" smtClean="0">
                <a:solidFill>
                  <a:schemeClr val="bg1"/>
                </a:solidFill>
              </a:rPr>
              <a:t>PCB </a:t>
            </a:r>
            <a:r>
              <a:rPr lang="en-US" b="1" i="1" dirty="0" smtClean="0">
                <a:solidFill>
                  <a:schemeClr val="bg1"/>
                </a:solidFill>
              </a:rPr>
              <a:t>ARTWORK WITH COMPNENTS</a:t>
            </a:r>
            <a:r>
              <a:rPr lang="en-US" b="1" i="1" dirty="0" smtClean="0">
                <a:solidFill>
                  <a:schemeClr val="bg1"/>
                </a:solidFill>
              </a:rPr>
              <a:t>:</a:t>
            </a:r>
            <a:endParaRPr lang="en-US" b="1" i="1" dirty="0">
              <a:solidFill>
                <a:schemeClr val="bg1"/>
              </a:solidFill>
            </a:endParaRPr>
          </a:p>
        </p:txBody>
      </p:sp>
      <p:sp>
        <p:nvSpPr>
          <p:cNvPr id="16" name="TextBox 15"/>
          <p:cNvSpPr txBox="1"/>
          <p:nvPr/>
        </p:nvSpPr>
        <p:spPr>
          <a:xfrm>
            <a:off x="8210728" y="888345"/>
            <a:ext cx="4246302" cy="369332"/>
          </a:xfrm>
          <a:prstGeom prst="rect">
            <a:avLst/>
          </a:prstGeom>
          <a:noFill/>
        </p:spPr>
        <p:txBody>
          <a:bodyPr wrap="square" rtlCol="0">
            <a:spAutoFit/>
          </a:bodyPr>
          <a:lstStyle/>
          <a:p>
            <a:r>
              <a:rPr lang="en-US" b="1" i="1" dirty="0" smtClean="0">
                <a:solidFill>
                  <a:schemeClr val="bg1"/>
                </a:solidFill>
              </a:rPr>
              <a:t>PCB </a:t>
            </a:r>
            <a:r>
              <a:rPr lang="en-US" b="1" i="1" dirty="0" smtClean="0">
                <a:solidFill>
                  <a:schemeClr val="bg1"/>
                </a:solidFill>
              </a:rPr>
              <a:t>ARTWORK WITHOUT </a:t>
            </a:r>
            <a:r>
              <a:rPr lang="en-US" b="1" i="1" dirty="0" smtClean="0">
                <a:solidFill>
                  <a:schemeClr val="bg1"/>
                </a:solidFill>
              </a:rPr>
              <a:t>COMPONENTS:</a:t>
            </a:r>
            <a:endParaRPr lang="en-US" b="1" i="1" dirty="0">
              <a:solidFill>
                <a:schemeClr val="bg1"/>
              </a:solidFill>
            </a:endParaRPr>
          </a:p>
        </p:txBody>
      </p:sp>
      <p:sp>
        <p:nvSpPr>
          <p:cNvPr id="18" name="TextBox 17"/>
          <p:cNvSpPr txBox="1"/>
          <p:nvPr/>
        </p:nvSpPr>
        <p:spPr>
          <a:xfrm>
            <a:off x="617604" y="4600279"/>
            <a:ext cx="2413402" cy="400110"/>
          </a:xfrm>
          <a:prstGeom prst="rect">
            <a:avLst/>
          </a:prstGeom>
          <a:noFill/>
        </p:spPr>
        <p:txBody>
          <a:bodyPr wrap="square" rtlCol="0">
            <a:spAutoFit/>
          </a:bodyPr>
          <a:lstStyle/>
          <a:p>
            <a:r>
              <a:rPr lang="en-US" sz="2000" b="1" i="1" dirty="0" smtClean="0">
                <a:solidFill>
                  <a:schemeClr val="bg1"/>
                </a:solidFill>
              </a:rPr>
              <a:t>CIRCUIT DIAGRAM:</a:t>
            </a:r>
            <a:endParaRPr lang="en-US" sz="2000" b="1" i="1" dirty="0">
              <a:solidFill>
                <a:schemeClr val="bg1"/>
              </a:solidFill>
            </a:endParaRPr>
          </a:p>
        </p:txBody>
      </p:sp>
    </p:spTree>
    <p:extLst>
      <p:ext uri="{BB962C8B-B14F-4D97-AF65-F5344CB8AC3E}">
        <p14:creationId xmlns:p14="http://schemas.microsoft.com/office/powerpoint/2010/main" val="2741844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 name="Content Placeholder 7"/>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rot="5400000">
            <a:off x="2667001" y="-2667000"/>
            <a:ext cx="6858000" cy="12192001"/>
          </a:xfrm>
        </p:spPr>
      </p:pic>
      <p:sp>
        <p:nvSpPr>
          <p:cNvPr id="9" name="TextBox 8"/>
          <p:cNvSpPr txBox="1"/>
          <p:nvPr/>
        </p:nvSpPr>
        <p:spPr>
          <a:xfrm>
            <a:off x="4661615" y="219096"/>
            <a:ext cx="2868770" cy="523220"/>
          </a:xfrm>
          <a:prstGeom prst="rect">
            <a:avLst/>
          </a:prstGeom>
          <a:noFill/>
        </p:spPr>
        <p:txBody>
          <a:bodyPr wrap="square" rtlCol="0">
            <a:spAutoFit/>
          </a:bodyPr>
          <a:lstStyle/>
          <a:p>
            <a:r>
              <a:rPr lang="en-US" sz="2800" dirty="0" smtClean="0">
                <a:solidFill>
                  <a:srgbClr val="FFFF00"/>
                </a:solidFill>
                <a:latin typeface="Arial Black" panose="020B0A04020102020204" pitchFamily="34" charset="0"/>
              </a:rPr>
              <a:t>PCB MAKING </a:t>
            </a:r>
            <a:endParaRPr lang="en-US" sz="2800" dirty="0">
              <a:solidFill>
                <a:srgbClr val="FFFF00"/>
              </a:solidFill>
              <a:latin typeface="Arial Black" panose="020B0A04020102020204" pitchFamily="34" charset="0"/>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30385" y="1875999"/>
            <a:ext cx="4137355" cy="3106000"/>
          </a:xfrm>
          <a:prstGeom prst="rect">
            <a:avLst/>
          </a:prstGeom>
        </p:spPr>
      </p:pic>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28424" y="1474562"/>
            <a:ext cx="3105051" cy="4136091"/>
          </a:xfrm>
          <a:prstGeom prst="rect">
            <a:avLst/>
          </a:prstGeom>
        </p:spPr>
      </p:pic>
      <p:sp>
        <p:nvSpPr>
          <p:cNvPr id="13" name="TextBox 12"/>
          <p:cNvSpPr txBox="1"/>
          <p:nvPr/>
        </p:nvSpPr>
        <p:spPr>
          <a:xfrm>
            <a:off x="314822" y="1436607"/>
            <a:ext cx="2775400" cy="400110"/>
          </a:xfrm>
          <a:prstGeom prst="rect">
            <a:avLst/>
          </a:prstGeom>
          <a:noFill/>
        </p:spPr>
        <p:txBody>
          <a:bodyPr wrap="square" rtlCol="0">
            <a:spAutoFit/>
          </a:bodyPr>
          <a:lstStyle/>
          <a:p>
            <a:r>
              <a:rPr lang="en-US" sz="2000" b="1" i="1" dirty="0" smtClean="0">
                <a:solidFill>
                  <a:schemeClr val="bg1"/>
                </a:solidFill>
              </a:rPr>
              <a:t>PCB MAKING:</a:t>
            </a:r>
            <a:endParaRPr lang="en-US" sz="2000" b="1" i="1" dirty="0">
              <a:solidFill>
                <a:schemeClr val="bg1"/>
              </a:solidFill>
            </a:endParaRPr>
          </a:p>
        </p:txBody>
      </p:sp>
      <p:pic>
        <p:nvPicPr>
          <p:cNvPr id="3" name="Picture 2"/>
          <p:cNvPicPr>
            <a:picLocks noChangeAspect="1"/>
          </p:cNvPicPr>
          <p:nvPr/>
        </p:nvPicPr>
        <p:blipFill>
          <a:blip r:embed="rId5"/>
          <a:stretch>
            <a:fillRect/>
          </a:stretch>
        </p:blipFill>
        <p:spPr>
          <a:xfrm>
            <a:off x="135412" y="1932893"/>
            <a:ext cx="3657600" cy="2992213"/>
          </a:xfrm>
          <a:prstGeom prst="rect">
            <a:avLst/>
          </a:prstGeom>
        </p:spPr>
      </p:pic>
    </p:spTree>
    <p:extLst>
      <p:ext uri="{BB962C8B-B14F-4D97-AF65-F5344CB8AC3E}">
        <p14:creationId xmlns:p14="http://schemas.microsoft.com/office/powerpoint/2010/main" val="11249805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6999" y="-2667000"/>
            <a:ext cx="6858000" cy="12192000"/>
          </a:xfrm>
          <a:prstGeom prst="rect">
            <a:avLst/>
          </a:prstGeom>
        </p:spPr>
      </p:pic>
      <p:sp>
        <p:nvSpPr>
          <p:cNvPr id="8" name="Rectangle 7"/>
          <p:cNvSpPr/>
          <p:nvPr/>
        </p:nvSpPr>
        <p:spPr>
          <a:xfrm>
            <a:off x="5264682" y="238016"/>
            <a:ext cx="1662635" cy="523220"/>
          </a:xfrm>
          <a:prstGeom prst="rect">
            <a:avLst/>
          </a:prstGeom>
        </p:spPr>
        <p:txBody>
          <a:bodyPr wrap="none">
            <a:spAutoFit/>
          </a:bodyPr>
          <a:lstStyle/>
          <a:p>
            <a:pPr algn="ctr"/>
            <a:r>
              <a:rPr lang="en-US" sz="2800" b="1" dirty="0" smtClean="0">
                <a:solidFill>
                  <a:srgbClr val="FFFF00"/>
                </a:solidFill>
                <a:latin typeface="Arial Black" panose="020B0A04020102020204" pitchFamily="34" charset="0"/>
              </a:rPr>
              <a:t> SCOPE</a:t>
            </a:r>
            <a:endParaRPr lang="en-US" sz="2800" dirty="0">
              <a:solidFill>
                <a:srgbClr val="FFFF00"/>
              </a:solidFill>
              <a:latin typeface="Arial Black" panose="020B0A04020102020204" pitchFamily="34" charset="0"/>
            </a:endParaRPr>
          </a:p>
        </p:txBody>
      </p:sp>
      <p:sp>
        <p:nvSpPr>
          <p:cNvPr id="9" name="Rectangle 2"/>
          <p:cNvSpPr>
            <a:spLocks noChangeArrowheads="1"/>
          </p:cNvSpPr>
          <p:nvPr/>
        </p:nvSpPr>
        <p:spPr bwMode="auto">
          <a:xfrm>
            <a:off x="450200" y="1007004"/>
            <a:ext cx="11529391"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900" b="0" i="1" u="none" strike="noStrike" cap="none" normalizeH="0" baseline="0" dirty="0" smtClean="0">
                <a:ln>
                  <a:noFill/>
                </a:ln>
                <a:solidFill>
                  <a:schemeClr val="bg1"/>
                </a:solidFill>
                <a:effectLst/>
              </a:rPr>
              <a:t>The scope of the touch sensor project is vast and extends across various fields of technology and innovation. It includes the following aspects: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2400" b="1" i="1" u="none" strike="noStrike" cap="none" normalizeH="0" baseline="0" dirty="0" smtClean="0">
                <a:ln>
                  <a:noFill/>
                </a:ln>
                <a:solidFill>
                  <a:schemeClr val="bg1"/>
                </a:solidFill>
                <a:effectLst/>
              </a:rPr>
              <a:t>Learning and Implementation:</a:t>
            </a:r>
            <a:endParaRPr kumimoji="0" lang="en-US" sz="2400" b="0" i="1" u="none" strike="noStrike" cap="none" normalizeH="0" baseline="0" dirty="0" smtClean="0">
              <a:ln>
                <a:noFill/>
              </a:ln>
              <a:solidFill>
                <a:schemeClr val="bg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900" b="0" i="1" u="none" strike="noStrike" cap="none" normalizeH="0" baseline="0" dirty="0" smtClean="0">
                <a:ln>
                  <a:noFill/>
                </a:ln>
                <a:solidFill>
                  <a:schemeClr val="bg1"/>
                </a:solidFill>
                <a:effectLst/>
              </a:rPr>
              <a:t>Understanding the principles of touch-based sensing technology.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900" b="0" i="1" u="none" strike="noStrike" cap="none" normalizeH="0" baseline="0" dirty="0" smtClean="0">
                <a:ln>
                  <a:noFill/>
                </a:ln>
                <a:solidFill>
                  <a:schemeClr val="bg1"/>
                </a:solidFill>
                <a:effectLst/>
              </a:rPr>
              <a:t>Implementing a functional prototype to demonstrate its working.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2400" b="1" i="1" u="none" strike="noStrike" cap="none" normalizeH="0" baseline="0" dirty="0" smtClean="0">
                <a:ln>
                  <a:noFill/>
                </a:ln>
                <a:solidFill>
                  <a:schemeClr val="bg1"/>
                </a:solidFill>
                <a:effectLst/>
              </a:rPr>
              <a:t>Applications in Real-World Devices:</a:t>
            </a:r>
            <a:endParaRPr kumimoji="0" lang="en-US" sz="2400" b="0" i="1" u="none" strike="noStrike" cap="none" normalizeH="0" baseline="0" dirty="0" smtClean="0">
              <a:ln>
                <a:noFill/>
              </a:ln>
              <a:solidFill>
                <a:schemeClr val="bg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900" b="0" i="1" u="none" strike="noStrike" cap="none" normalizeH="0" baseline="0" dirty="0" smtClean="0">
                <a:ln>
                  <a:noFill/>
                </a:ln>
                <a:solidFill>
                  <a:schemeClr val="bg1"/>
                </a:solidFill>
                <a:effectLst/>
              </a:rPr>
              <a:t>Integration into home automation systems, such as touch-controlled lights or appliances.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900" b="0" i="1" u="none" strike="noStrike" cap="none" normalizeH="0" baseline="0" dirty="0" smtClean="0">
                <a:ln>
                  <a:noFill/>
                </a:ln>
                <a:solidFill>
                  <a:schemeClr val="bg1"/>
                </a:solidFill>
                <a:effectLst/>
              </a:rPr>
              <a:t>Use in consumer electronics like smartphones, laptops, and wearable devices.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2400" b="1" i="1" u="none" strike="noStrike" cap="none" normalizeH="0" baseline="0" dirty="0" smtClean="0">
                <a:ln>
                  <a:noFill/>
                </a:ln>
                <a:solidFill>
                  <a:schemeClr val="bg1"/>
                </a:solidFill>
                <a:effectLst/>
              </a:rPr>
              <a:t>Innovation and Research:</a:t>
            </a:r>
            <a:endParaRPr kumimoji="0" lang="en-US" sz="2400" b="0" i="1" u="none" strike="noStrike" cap="none" normalizeH="0" baseline="0" dirty="0" smtClean="0">
              <a:ln>
                <a:noFill/>
              </a:ln>
              <a:solidFill>
                <a:schemeClr val="bg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900" b="0" i="1" u="none" strike="noStrike" cap="none" normalizeH="0" baseline="0" dirty="0" smtClean="0">
                <a:ln>
                  <a:noFill/>
                </a:ln>
                <a:solidFill>
                  <a:schemeClr val="bg1"/>
                </a:solidFill>
                <a:effectLst/>
              </a:rPr>
              <a:t>Exploring new ways to use touch sensors in robotics, medical devices, and industrial control systems.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900" b="0" i="1" u="none" strike="noStrike" cap="none" normalizeH="0" baseline="0" dirty="0" smtClean="0">
                <a:ln>
                  <a:noFill/>
                </a:ln>
                <a:solidFill>
                  <a:schemeClr val="bg1"/>
                </a:solidFill>
                <a:effectLst/>
              </a:rPr>
              <a:t>Advancing user interfaces for enhanced interactivity and efficiency.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sz="2400" b="1" i="1" u="none" strike="noStrike" cap="none" normalizeH="0" baseline="0" dirty="0" smtClean="0">
                <a:ln>
                  <a:noFill/>
                </a:ln>
                <a:solidFill>
                  <a:schemeClr val="bg1"/>
                </a:solidFill>
                <a:effectLst/>
              </a:rPr>
              <a:t>Skill Development:</a:t>
            </a:r>
            <a:endParaRPr kumimoji="0" lang="en-US" sz="2400" b="0" i="1" u="none" strike="noStrike" cap="none" normalizeH="0" baseline="0" dirty="0" smtClean="0">
              <a:ln>
                <a:noFill/>
              </a:ln>
              <a:solidFill>
                <a:schemeClr val="bg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900" b="0" i="1" u="none" strike="noStrike" cap="none" normalizeH="0" baseline="0" dirty="0" smtClean="0">
                <a:ln>
                  <a:noFill/>
                </a:ln>
                <a:solidFill>
                  <a:schemeClr val="bg1"/>
                </a:solidFill>
                <a:effectLst/>
              </a:rPr>
              <a:t>Developing practical skills in circuit design, microcontroller programming, and troubleshooting.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900" b="0" i="1" u="none" strike="noStrike" cap="none" normalizeH="0" baseline="0" dirty="0" smtClean="0">
                <a:ln>
                  <a:noFill/>
                </a:ln>
                <a:solidFill>
                  <a:schemeClr val="bg1"/>
                </a:solidFill>
                <a:effectLst/>
              </a:rPr>
              <a:t>Gaining experience with components like transistors, resistors, and capacitive touch sensors.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sz="2400" b="1" i="1" u="none" strike="noStrike" cap="none" normalizeH="0" baseline="0" dirty="0" smtClean="0">
                <a:ln>
                  <a:noFill/>
                </a:ln>
                <a:solidFill>
                  <a:schemeClr val="bg1"/>
                </a:solidFill>
                <a:effectLst/>
              </a:rPr>
              <a:t>Future Expansion:</a:t>
            </a:r>
            <a:endParaRPr kumimoji="0" lang="en-US" sz="2400" b="0" i="1" u="none" strike="noStrike" cap="none" normalizeH="0" baseline="0" dirty="0" smtClean="0">
              <a:ln>
                <a:noFill/>
              </a:ln>
              <a:solidFill>
                <a:schemeClr val="bg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900" b="0" i="1" u="none" strike="noStrike" cap="none" normalizeH="0" baseline="0" dirty="0" smtClean="0">
                <a:ln>
                  <a:noFill/>
                </a:ln>
                <a:solidFill>
                  <a:schemeClr val="bg1"/>
                </a:solidFill>
                <a:effectLst/>
              </a:rPr>
              <a:t>Adapting the project for advanced applications, such as multi-touch interfaces or gesture recognition.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900" b="0" i="1" u="none" strike="noStrike" cap="none" normalizeH="0" baseline="0" dirty="0" smtClean="0">
                <a:ln>
                  <a:noFill/>
                </a:ln>
                <a:solidFill>
                  <a:schemeClr val="bg1"/>
                </a:solidFill>
                <a:effectLst/>
              </a:rPr>
              <a:t>Incorporating wireless communication for </a:t>
            </a:r>
            <a:r>
              <a:rPr kumimoji="0" lang="en-US" sz="1900" b="0" i="1" u="none" strike="noStrike" cap="none" normalizeH="0" baseline="0" dirty="0" err="1" smtClean="0">
                <a:ln>
                  <a:noFill/>
                </a:ln>
                <a:solidFill>
                  <a:schemeClr val="bg1"/>
                </a:solidFill>
                <a:effectLst/>
              </a:rPr>
              <a:t>IoT</a:t>
            </a:r>
            <a:r>
              <a:rPr kumimoji="0" lang="en-US" sz="1900" b="0" i="1" u="none" strike="noStrike" cap="none" normalizeH="0" baseline="0" dirty="0" smtClean="0">
                <a:ln>
                  <a:noFill/>
                </a:ln>
                <a:solidFill>
                  <a:schemeClr val="bg1"/>
                </a:solidFill>
                <a:effectLst/>
              </a:rPr>
              <a:t> (Internet of Things) integration. </a:t>
            </a:r>
          </a:p>
        </p:txBody>
      </p:sp>
    </p:spTree>
    <p:extLst>
      <p:ext uri="{BB962C8B-B14F-4D97-AF65-F5344CB8AC3E}">
        <p14:creationId xmlns:p14="http://schemas.microsoft.com/office/powerpoint/2010/main" val="41862819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rot="5400000">
            <a:off x="2667002" y="-2667001"/>
            <a:ext cx="6858000" cy="12192001"/>
          </a:xfrm>
        </p:spPr>
      </p:pic>
      <p:sp>
        <p:nvSpPr>
          <p:cNvPr id="5" name="Rectangle 1"/>
          <p:cNvSpPr>
            <a:spLocks noChangeArrowheads="1"/>
          </p:cNvSpPr>
          <p:nvPr/>
        </p:nvSpPr>
        <p:spPr bwMode="auto">
          <a:xfrm>
            <a:off x="242553" y="888175"/>
            <a:ext cx="11706893"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1" u="none" strike="noStrike" cap="none" normalizeH="0" baseline="0" dirty="0" smtClean="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900" b="0" i="1" u="none" strike="noStrike" cap="none" normalizeH="0" baseline="0" dirty="0" smtClean="0">
                <a:ln>
                  <a:noFill/>
                </a:ln>
                <a:solidFill>
                  <a:schemeClr val="bg1"/>
                </a:solidFill>
                <a:effectLst/>
              </a:rPr>
              <a:t>The primary purpose of the touch sensor project is to design a system that replaces traditional mechanical buttons with a touch-based interface, offering a modern, efficient, and durable solution. This project demonstrates the practical application of touch sensor technology by detecting physical touch and converting it into an electrical signal to trigger an output, such as lighting up an LED.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900" b="0" i="1" u="none" strike="noStrike" cap="none" normalizeH="0" baseline="0" dirty="0" smtClean="0">
                <a:ln>
                  <a:noFill/>
                </a:ln>
                <a:solidFill>
                  <a:schemeClr val="bg1"/>
                </a:solidFill>
                <a:effectLst/>
              </a:rPr>
              <a:t>It aims to:</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900" b="0" i="1" u="none" strike="noStrike" cap="none" normalizeH="0" baseline="0" dirty="0" smtClean="0">
                <a:ln>
                  <a:noFill/>
                </a:ln>
                <a:solidFill>
                  <a:schemeClr val="bg1"/>
                </a:solidFill>
                <a:effectLst/>
              </a:rPr>
              <a:t>Provide hands-on learning about touch-sensitive circuits and their components.</a:t>
            </a:r>
          </a:p>
          <a:p>
            <a:pPr marL="0" marR="0" lvl="0" indent="0" algn="l" defTabSz="914400" rtl="0" eaLnBrk="0" fontAlgn="base" latinLnBrk="0" hangingPunct="0">
              <a:lnSpc>
                <a:spcPct val="100000"/>
              </a:lnSpc>
              <a:spcBef>
                <a:spcPct val="0"/>
              </a:spcBef>
              <a:spcAft>
                <a:spcPct val="0"/>
              </a:spcAft>
              <a:buClrTx/>
              <a:buSzTx/>
              <a:tabLst/>
            </a:pPr>
            <a:r>
              <a:rPr kumimoji="0" lang="en-US" sz="1900" b="0" i="1" u="none" strike="noStrike" cap="none" normalizeH="0" baseline="0" dirty="0" smtClean="0">
                <a:ln>
                  <a:noFill/>
                </a:ln>
                <a:solidFill>
                  <a:schemeClr val="bg1"/>
                </a:solidFill>
                <a:effectLst/>
              </a:rPr>
              <a:t>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1900" b="0" i="1" u="none" strike="noStrike" cap="none" normalizeH="0" baseline="0" dirty="0" smtClean="0">
                <a:ln>
                  <a:noFill/>
                </a:ln>
                <a:solidFill>
                  <a:schemeClr val="bg1"/>
                </a:solidFill>
                <a:effectLst/>
              </a:rPr>
              <a:t>Showcase the functionality and advantages of touch technology, such as seamless operation and reduced wear and tear.</a:t>
            </a:r>
          </a:p>
          <a:p>
            <a:pPr marL="0" marR="0" lvl="0" indent="0" algn="l" defTabSz="914400" rtl="0" eaLnBrk="0" fontAlgn="base" latinLnBrk="0" hangingPunct="0">
              <a:lnSpc>
                <a:spcPct val="100000"/>
              </a:lnSpc>
              <a:spcBef>
                <a:spcPct val="0"/>
              </a:spcBef>
              <a:spcAft>
                <a:spcPct val="0"/>
              </a:spcAft>
              <a:buClrTx/>
              <a:buSzTx/>
              <a:tabLst/>
            </a:pPr>
            <a:r>
              <a:rPr kumimoji="0" lang="en-US" sz="1900" b="0" i="1" u="none" strike="noStrike" cap="none" normalizeH="0" baseline="0" dirty="0" smtClean="0">
                <a:ln>
                  <a:noFill/>
                </a:ln>
                <a:solidFill>
                  <a:schemeClr val="bg1"/>
                </a:solidFill>
                <a:effectLst/>
              </a:rPr>
              <a:t>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1900" b="0" i="1" u="none" strike="noStrike" cap="none" normalizeH="0" baseline="0" dirty="0" smtClean="0">
                <a:ln>
                  <a:noFill/>
                </a:ln>
                <a:solidFill>
                  <a:schemeClr val="bg1"/>
                </a:solidFill>
                <a:effectLst/>
              </a:rPr>
              <a:t>Highlight real-world applications in home automation, electronics, and industrial systems.</a:t>
            </a:r>
          </a:p>
          <a:p>
            <a:pPr marL="0" marR="0" lvl="0" indent="0" algn="l" defTabSz="914400" rtl="0" eaLnBrk="0" fontAlgn="base" latinLnBrk="0" hangingPunct="0">
              <a:lnSpc>
                <a:spcPct val="100000"/>
              </a:lnSpc>
              <a:spcBef>
                <a:spcPct val="0"/>
              </a:spcBef>
              <a:spcAft>
                <a:spcPct val="0"/>
              </a:spcAft>
              <a:buClrTx/>
              <a:buSzTx/>
              <a:tabLst/>
            </a:pPr>
            <a:r>
              <a:rPr kumimoji="0" lang="en-US" sz="1900" b="0" i="1" u="none" strike="noStrike" cap="none" normalizeH="0" baseline="0" dirty="0" smtClean="0">
                <a:ln>
                  <a:noFill/>
                </a:ln>
                <a:solidFill>
                  <a:schemeClr val="bg1"/>
                </a:solidFill>
                <a:effectLst/>
              </a:rPr>
              <a:t>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sz="1900" b="0" i="1" u="none" strike="noStrike" cap="none" normalizeH="0" baseline="0" dirty="0" smtClean="0">
                <a:ln>
                  <a:noFill/>
                </a:ln>
                <a:solidFill>
                  <a:schemeClr val="bg1"/>
                </a:solidFill>
                <a:effectLst/>
              </a:rPr>
              <a:t>Encourage innovation in developing advanced touch-based systems for user-friendly and intuitive interfaces.</a:t>
            </a:r>
          </a:p>
          <a:p>
            <a:pPr marL="0" marR="0" lvl="0" indent="0" algn="l" defTabSz="914400" rtl="0" eaLnBrk="0" fontAlgn="base" latinLnBrk="0" hangingPunct="0">
              <a:lnSpc>
                <a:spcPct val="100000"/>
              </a:lnSpc>
              <a:spcBef>
                <a:spcPct val="0"/>
              </a:spcBef>
              <a:spcAft>
                <a:spcPct val="0"/>
              </a:spcAft>
              <a:buClrTx/>
              <a:buSzTx/>
              <a:tabLst/>
            </a:pPr>
            <a:r>
              <a:rPr kumimoji="0" lang="en-US" sz="1900" b="0" i="1" u="none" strike="noStrike" cap="none" normalizeH="0" baseline="0" dirty="0" smtClean="0">
                <a:ln>
                  <a:noFill/>
                </a:ln>
                <a:solidFill>
                  <a:schemeClr val="bg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900" b="0" i="1" u="none" strike="noStrike" cap="none" normalizeH="0" baseline="0" dirty="0" smtClean="0">
                <a:ln>
                  <a:noFill/>
                </a:ln>
                <a:solidFill>
                  <a:schemeClr val="bg1"/>
                </a:solidFill>
                <a:effectLst/>
              </a:rPr>
              <a:t>The project serves as a stepping stone for exploring cutting-edge technologies like gesture recognition and multi-touch interfaces, paving the way for integration into modern devices and systems.</a:t>
            </a:r>
          </a:p>
        </p:txBody>
      </p:sp>
      <p:sp>
        <p:nvSpPr>
          <p:cNvPr id="6" name="TextBox 5"/>
          <p:cNvSpPr txBox="1"/>
          <p:nvPr/>
        </p:nvSpPr>
        <p:spPr>
          <a:xfrm>
            <a:off x="5038859" y="181956"/>
            <a:ext cx="2114282" cy="523220"/>
          </a:xfrm>
          <a:prstGeom prst="rect">
            <a:avLst/>
          </a:prstGeom>
          <a:noFill/>
        </p:spPr>
        <p:txBody>
          <a:bodyPr wrap="square" rtlCol="0">
            <a:spAutoFit/>
          </a:bodyPr>
          <a:lstStyle/>
          <a:p>
            <a:pPr algn="ctr"/>
            <a:r>
              <a:rPr lang="en-US" sz="2800" b="1" dirty="0" smtClean="0">
                <a:solidFill>
                  <a:srgbClr val="FFFF00"/>
                </a:solidFill>
                <a:latin typeface="Arial Black" panose="020B0A04020102020204" pitchFamily="34" charset="0"/>
              </a:rPr>
              <a:t>PURPOSE</a:t>
            </a:r>
            <a:endParaRPr lang="en-US" sz="2800" b="1" dirty="0">
              <a:solidFill>
                <a:srgbClr val="FFFF00"/>
              </a:solidFill>
              <a:latin typeface="Arial Black" panose="020B0A04020102020204" pitchFamily="34" charset="0"/>
            </a:endParaRPr>
          </a:p>
        </p:txBody>
      </p:sp>
    </p:spTree>
    <p:extLst>
      <p:ext uri="{BB962C8B-B14F-4D97-AF65-F5344CB8AC3E}">
        <p14:creationId xmlns:p14="http://schemas.microsoft.com/office/powerpoint/2010/main" val="22688787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3311"/>
            <a:ext cx="6858000" cy="12192000"/>
          </a:xfrm>
          <a:prstGeom prst="rect">
            <a:avLst/>
          </a:prstGeom>
        </p:spPr>
      </p:pic>
      <p:sp>
        <p:nvSpPr>
          <p:cNvPr id="8" name="Rectangle 7"/>
          <p:cNvSpPr/>
          <p:nvPr/>
        </p:nvSpPr>
        <p:spPr>
          <a:xfrm>
            <a:off x="3803007" y="239861"/>
            <a:ext cx="4585986" cy="523220"/>
          </a:xfrm>
          <a:prstGeom prst="rect">
            <a:avLst/>
          </a:prstGeom>
        </p:spPr>
        <p:txBody>
          <a:bodyPr wrap="square">
            <a:spAutoFit/>
          </a:bodyPr>
          <a:lstStyle/>
          <a:p>
            <a:r>
              <a:rPr lang="en-US" sz="2800" b="1" dirty="0" smtClean="0">
                <a:solidFill>
                  <a:srgbClr val="FFFF00"/>
                </a:solidFill>
                <a:latin typeface="Arial Black" panose="020B0A04020102020204" pitchFamily="34" charset="0"/>
              </a:rPr>
              <a:t> APPLICABILITY</a:t>
            </a:r>
          </a:p>
        </p:txBody>
      </p:sp>
      <p:sp>
        <p:nvSpPr>
          <p:cNvPr id="5" name="Rectangle 1"/>
          <p:cNvSpPr>
            <a:spLocks noChangeArrowheads="1"/>
          </p:cNvSpPr>
          <p:nvPr/>
        </p:nvSpPr>
        <p:spPr bwMode="auto">
          <a:xfrm>
            <a:off x="631066" y="886192"/>
            <a:ext cx="9171165" cy="5878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sz="2800" b="1" dirty="0" smtClean="0">
                <a:solidFill>
                  <a:schemeClr val="bg1"/>
                </a:solidFill>
              </a:rPr>
              <a:t>1.</a:t>
            </a:r>
            <a:r>
              <a:rPr kumimoji="0" lang="en-US" sz="2400" b="1" u="none" strike="noStrike" cap="none" normalizeH="0" baseline="0" dirty="0" smtClean="0">
                <a:ln>
                  <a:noFill/>
                </a:ln>
                <a:solidFill>
                  <a:schemeClr val="bg1"/>
                </a:solidFill>
                <a:effectLst/>
              </a:rPr>
              <a:t>Home Automation</a:t>
            </a:r>
            <a:endParaRPr kumimoji="0" lang="en-US" sz="4000" b="1" u="none" strike="noStrike" cap="none" normalizeH="0" baseline="0" dirty="0" smtClean="0">
              <a:ln>
                <a:noFill/>
              </a:ln>
              <a:solidFill>
                <a:schemeClr val="bg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000" b="0" i="1" u="none" strike="noStrike" cap="none" normalizeH="0" baseline="0" dirty="0" smtClean="0">
                <a:ln>
                  <a:noFill/>
                </a:ln>
                <a:solidFill>
                  <a:schemeClr val="bg1"/>
                </a:solidFill>
                <a:effectLst/>
              </a:rPr>
              <a:t>Touch-controlled lights, fans, and appliances for intuitive operation.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2400" b="1" u="none" strike="noStrike" cap="none" normalizeH="0" baseline="0" dirty="0" smtClean="0">
                <a:ln>
                  <a:noFill/>
                </a:ln>
                <a:solidFill>
                  <a:schemeClr val="bg1"/>
                </a:solidFill>
                <a:effectLst/>
              </a:rPr>
              <a:t>Consumer Electronics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000" b="0" i="1" u="none" strike="noStrike" cap="none" normalizeH="0" baseline="0" dirty="0" smtClean="0">
                <a:ln>
                  <a:noFill/>
                </a:ln>
                <a:solidFill>
                  <a:schemeClr val="bg1"/>
                </a:solidFill>
                <a:effectLst/>
              </a:rPr>
              <a:t>Integration in smartphones, laptops, </a:t>
            </a:r>
            <a:r>
              <a:rPr kumimoji="0" lang="en-US" sz="2000" b="0" i="1" u="none" strike="noStrike" cap="none" normalizeH="0" baseline="0" dirty="0" err="1" smtClean="0">
                <a:ln>
                  <a:noFill/>
                </a:ln>
                <a:solidFill>
                  <a:schemeClr val="bg1"/>
                </a:solidFill>
                <a:effectLst/>
              </a:rPr>
              <a:t>smartwatches</a:t>
            </a:r>
            <a:r>
              <a:rPr kumimoji="0" lang="en-US" sz="2000" b="0" i="1" u="none" strike="noStrike" cap="none" normalizeH="0" baseline="0" dirty="0" smtClean="0">
                <a:ln>
                  <a:noFill/>
                </a:ln>
                <a:solidFill>
                  <a:schemeClr val="bg1"/>
                </a:solidFill>
                <a:effectLst/>
              </a:rPr>
              <a:t>, and other gadgets.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2400" b="1" u="none" strike="noStrike" cap="none" normalizeH="0" baseline="0" dirty="0" smtClean="0">
                <a:ln>
                  <a:noFill/>
                </a:ln>
                <a:solidFill>
                  <a:schemeClr val="bg1"/>
                </a:solidFill>
                <a:effectLst/>
              </a:rPr>
              <a:t>Industrial Automation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000" b="0" i="1" u="none" strike="noStrike" cap="none" normalizeH="0" baseline="0" dirty="0" smtClean="0">
                <a:ln>
                  <a:noFill/>
                </a:ln>
                <a:solidFill>
                  <a:schemeClr val="bg1"/>
                </a:solidFill>
                <a:effectLst/>
              </a:rPr>
              <a:t>Replacing mechanical buttons in control panels for enhanced durability.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sz="2400" b="1" u="none" strike="noStrike" cap="none" normalizeH="0" baseline="0" dirty="0" smtClean="0">
                <a:ln>
                  <a:noFill/>
                </a:ln>
                <a:solidFill>
                  <a:schemeClr val="bg1"/>
                </a:solidFill>
                <a:effectLst/>
              </a:rPr>
              <a:t>Healthcare</a:t>
            </a:r>
            <a:endParaRPr kumimoji="0" lang="en-US" sz="2400" b="0" u="none" strike="noStrike" cap="none" normalizeH="0" baseline="0" dirty="0" smtClean="0">
              <a:ln>
                <a:noFill/>
              </a:ln>
              <a:solidFill>
                <a:schemeClr val="bg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000" b="0" i="1" u="none" strike="noStrike" cap="none" normalizeH="0" baseline="0" dirty="0" smtClean="0">
                <a:ln>
                  <a:noFill/>
                </a:ln>
                <a:solidFill>
                  <a:schemeClr val="bg1"/>
                </a:solidFill>
                <a:effectLst/>
              </a:rPr>
              <a:t>Non-invasive and responsive control in medical devices.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sz="2400" b="1" u="none" strike="noStrike" cap="none" normalizeH="0" baseline="0" dirty="0" smtClean="0">
                <a:ln>
                  <a:noFill/>
                </a:ln>
                <a:solidFill>
                  <a:schemeClr val="bg1"/>
                </a:solidFill>
                <a:effectLst/>
              </a:rPr>
              <a:t>Robotics</a:t>
            </a:r>
            <a:endParaRPr kumimoji="0" lang="en-US" sz="2400" b="0" u="none" strike="noStrike" cap="none" normalizeH="0" baseline="0" dirty="0" smtClean="0">
              <a:ln>
                <a:noFill/>
              </a:ln>
              <a:solidFill>
                <a:schemeClr val="bg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000" b="0" i="1" u="none" strike="noStrike" cap="none" normalizeH="0" baseline="0" dirty="0" smtClean="0">
                <a:ln>
                  <a:noFill/>
                </a:ln>
                <a:solidFill>
                  <a:schemeClr val="bg1"/>
                </a:solidFill>
                <a:effectLst/>
              </a:rPr>
              <a:t>Enhancing human-machine interaction for advanced robotics applications. </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sz="2400" b="1" u="none" strike="noStrike" cap="none" normalizeH="0" baseline="0" dirty="0" smtClean="0">
                <a:ln>
                  <a:noFill/>
                </a:ln>
                <a:solidFill>
                  <a:schemeClr val="bg1"/>
                </a:solidFill>
                <a:effectLst/>
              </a:rPr>
              <a:t>Education</a:t>
            </a:r>
            <a:endParaRPr kumimoji="0" lang="en-US" sz="2400" b="0" u="none" strike="noStrike" cap="none" normalizeH="0" baseline="0" dirty="0" smtClean="0">
              <a:ln>
                <a:noFill/>
              </a:ln>
              <a:solidFill>
                <a:schemeClr val="bg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000" b="0" i="1" u="none" strike="noStrike" cap="none" normalizeH="0" baseline="0" dirty="0" smtClean="0">
                <a:ln>
                  <a:noFill/>
                </a:ln>
                <a:solidFill>
                  <a:schemeClr val="bg1"/>
                </a:solidFill>
                <a:effectLst/>
              </a:rPr>
              <a:t>Teaching sensor-based technologies and circuit design principles. </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sz="2400" b="1" u="none" strike="noStrike" cap="none" normalizeH="0" baseline="0" dirty="0" smtClean="0">
                <a:ln>
                  <a:noFill/>
                </a:ln>
                <a:solidFill>
                  <a:schemeClr val="bg1"/>
                </a:solidFill>
                <a:effectLst/>
              </a:rPr>
              <a:t>Research and Development</a:t>
            </a:r>
            <a:endParaRPr kumimoji="0" lang="en-US" sz="2400" b="0" u="none" strike="noStrike" cap="none" normalizeH="0" baseline="0" dirty="0" smtClean="0">
              <a:ln>
                <a:noFill/>
              </a:ln>
              <a:solidFill>
                <a:schemeClr val="bg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000" b="0" i="1" u="none" strike="noStrike" cap="none" normalizeH="0" baseline="0" dirty="0" smtClean="0">
                <a:ln>
                  <a:noFill/>
                </a:ln>
                <a:solidFill>
                  <a:schemeClr val="bg1"/>
                </a:solidFill>
                <a:effectLst/>
              </a:rPr>
              <a:t>Exploring </a:t>
            </a:r>
            <a:r>
              <a:rPr kumimoji="0" lang="en-US" sz="2000" b="0" i="1" u="none" strike="noStrike" cap="none" normalizeH="0" baseline="0" dirty="0" err="1" smtClean="0">
                <a:ln>
                  <a:noFill/>
                </a:ln>
                <a:solidFill>
                  <a:schemeClr val="bg1"/>
                </a:solidFill>
                <a:effectLst/>
              </a:rPr>
              <a:t>IoT</a:t>
            </a:r>
            <a:r>
              <a:rPr kumimoji="0" lang="en-US" sz="2000" b="0" i="1" u="none" strike="noStrike" cap="none" normalizeH="0" baseline="0" dirty="0" smtClean="0">
                <a:ln>
                  <a:noFill/>
                </a:ln>
                <a:solidFill>
                  <a:schemeClr val="bg1"/>
                </a:solidFill>
                <a:effectLst/>
              </a:rPr>
              <a:t>, gesture recognition, and innovative user interfaces. </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sz="2400" b="1" u="none" strike="noStrike" cap="none" normalizeH="0" baseline="0" dirty="0" smtClean="0">
                <a:ln>
                  <a:noFill/>
                </a:ln>
                <a:solidFill>
                  <a:schemeClr val="bg1"/>
                </a:solidFill>
                <a:effectLst/>
              </a:rPr>
              <a:t>Public Utility Systems</a:t>
            </a:r>
            <a:endParaRPr kumimoji="0" lang="en-US" sz="2400" b="0" u="none" strike="noStrike" cap="none" normalizeH="0" baseline="0" dirty="0" smtClean="0">
              <a:ln>
                <a:noFill/>
              </a:ln>
              <a:solidFill>
                <a:schemeClr val="bg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000" b="0" i="1" u="none" strike="noStrike" cap="none" normalizeH="0" baseline="0" dirty="0" smtClean="0">
                <a:ln>
                  <a:noFill/>
                </a:ln>
                <a:solidFill>
                  <a:schemeClr val="bg1"/>
                </a:solidFill>
                <a:effectLst/>
              </a:rPr>
              <a:t>Use in ATMs, kiosks, and other touch-based public devices for improved usability.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1" u="none" strike="noStrike" cap="none" normalizeH="0" baseline="0" dirty="0" smtClean="0">
              <a:ln>
                <a:noFill/>
              </a:ln>
              <a:solidFill>
                <a:schemeClr val="bg1"/>
              </a:solidFill>
              <a:effectLst/>
            </a:endParaRPr>
          </a:p>
        </p:txBody>
      </p:sp>
    </p:spTree>
    <p:extLst>
      <p:ext uri="{BB962C8B-B14F-4D97-AF65-F5344CB8AC3E}">
        <p14:creationId xmlns:p14="http://schemas.microsoft.com/office/powerpoint/2010/main" val="19239082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rot="5400000">
            <a:off x="2667002" y="-2667000"/>
            <a:ext cx="6857998" cy="12192001"/>
          </a:xfrm>
        </p:spPr>
      </p:pic>
      <p:sp>
        <p:nvSpPr>
          <p:cNvPr id="6" name="Rectangle 5"/>
          <p:cNvSpPr/>
          <p:nvPr/>
        </p:nvSpPr>
        <p:spPr>
          <a:xfrm>
            <a:off x="3920910" y="2494724"/>
            <a:ext cx="4637808" cy="1015663"/>
          </a:xfrm>
          <a:prstGeom prst="rect">
            <a:avLst/>
          </a:prstGeom>
        </p:spPr>
        <p:txBody>
          <a:bodyPr wrap="none">
            <a:spAutoFit/>
          </a:bodyPr>
          <a:lstStyle/>
          <a:p>
            <a:pPr algn="ctr"/>
            <a:r>
              <a:rPr lang="en-US" sz="4000" b="1" dirty="0" smtClean="0">
                <a:solidFill>
                  <a:srgbClr val="FFFF00"/>
                </a:solidFill>
                <a:latin typeface="Algerian" panose="04020705040A02060702" pitchFamily="82" charset="0"/>
              </a:rPr>
              <a:t> </a:t>
            </a:r>
            <a:r>
              <a:rPr lang="en-US" sz="6000" b="1" dirty="0" smtClean="0">
                <a:solidFill>
                  <a:srgbClr val="FFFF00"/>
                </a:solidFill>
                <a:latin typeface="Algerian" panose="04020705040A02060702" pitchFamily="82" charset="0"/>
              </a:rPr>
              <a:t>THANK YOU </a:t>
            </a:r>
            <a:endParaRPr lang="en-US" sz="6000" dirty="0">
              <a:solidFill>
                <a:srgbClr val="FFFF00"/>
              </a:solidFill>
              <a:latin typeface="Algerian" panose="04020705040A02060702" pitchFamily="82" charset="0"/>
            </a:endParaRPr>
          </a:p>
        </p:txBody>
      </p:sp>
      <p:sp>
        <p:nvSpPr>
          <p:cNvPr id="3" name="TextBox 2"/>
          <p:cNvSpPr txBox="1"/>
          <p:nvPr/>
        </p:nvSpPr>
        <p:spPr>
          <a:xfrm>
            <a:off x="4739425" y="3751124"/>
            <a:ext cx="3000778" cy="523220"/>
          </a:xfrm>
          <a:prstGeom prst="rect">
            <a:avLst/>
          </a:prstGeom>
          <a:noFill/>
        </p:spPr>
        <p:txBody>
          <a:bodyPr wrap="square" rtlCol="0">
            <a:spAutoFit/>
          </a:bodyPr>
          <a:lstStyle/>
          <a:p>
            <a:pPr algn="ctr"/>
            <a:r>
              <a:rPr lang="en-US" sz="2800" b="1" dirty="0" smtClean="0">
                <a:solidFill>
                  <a:schemeClr val="bg1"/>
                </a:solidFill>
              </a:rPr>
              <a:t>ANY QUESTIONS?</a:t>
            </a:r>
            <a:endParaRPr lang="en-US" sz="2800" b="1" dirty="0">
              <a:solidFill>
                <a:schemeClr val="bg1"/>
              </a:solidFill>
            </a:endParaRPr>
          </a:p>
        </p:txBody>
      </p:sp>
    </p:spTree>
    <p:extLst>
      <p:ext uri="{BB962C8B-B14F-4D97-AF65-F5344CB8AC3E}">
        <p14:creationId xmlns:p14="http://schemas.microsoft.com/office/powerpoint/2010/main" val="21289859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624</TotalTime>
  <Words>1264</Words>
  <Application>Microsoft Office PowerPoint</Application>
  <PresentationFormat>Widescreen</PresentationFormat>
  <Paragraphs>98</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Algerian</vt:lpstr>
      <vt:lpstr>Arial</vt:lpstr>
      <vt:lpstr>Arial Black</vt:lpstr>
      <vt:lpstr>Arial Rounded MT Bold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38</cp:revision>
  <dcterms:created xsi:type="dcterms:W3CDTF">2024-12-22T04:13:20Z</dcterms:created>
  <dcterms:modified xsi:type="dcterms:W3CDTF">2024-12-24T17:51:13Z</dcterms:modified>
</cp:coreProperties>
</file>